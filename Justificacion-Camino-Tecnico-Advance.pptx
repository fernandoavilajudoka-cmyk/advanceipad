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explicar al equipo por qué la plataforma de informes se construyó como sitio estático data-driven con pipeline automatizado, y no como una app con backend o una herramienta BI de terceros.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seis requisitos salieron de cómo se vende el servicio: informes gerenciales con identidad Advance, entregados como liga, con datos del día. La restricción de costo y operación descartó desde el inicio soluciones pesadas.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Arquitectura en una frase: el informe es un HTML estático data-driven; GitHub Actions consulta la API de Mapon, inyecta los datos y commitea; Netlify publica. No hay servidor propio en ningún punto del flujo.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valor del negocio está en el análisis, y ese análisis vive en un solo archivo. Cada mejora (nuevo KPI, nueva gráfica, nuevo modelo de bono) se hace una vez y se propaga a todos los clientes en el siguiente build. La alternativa — un informe por cliente mantenido a mano — divergía y multiplicaba el costo de cada cambio.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workflow recibe toJSON(secrets) y el script filtra los MAPON_*: por eso dar de alta un cliente no requiere editar ni el workflow ni el código. El commit condicional evita redespliegues vacíos.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decisión de que el HTML final no llame a la API (los datos van inyectados) es la clave de seguridad: la llave del cliente jamás viaja al navegador. Y la superficie de ataque de un sitio estático es mínima comparada con cualquier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app con backend pediría servidor, BD, autenticación, y guardias — para un contenido que cambia una vez al día. Un BI SaaS cobra por visor, limita la marca y deja las credenciales del cliente en un tercero. El camino estático entrega lo mismo que ven los clientes, con costo y riesgo mínimos.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camino "simple" no significa análisis simple. Cada uno de estos filtros existe porque un artefacto real del dato (contadores que se reinician, GPS con picos, VINs como etiqueta) contaminaba un KPI. Esta lógica vive en el build y beneficia a todos los clientes.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Transparencia con el equipo: el camino tiene límites y los conocemos. Ninguno exige rehacer la arquitectura; todos tienen una salida incremental dentro del mismo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la decisión no fue "lo más barato" sino lo que maximiza análisis entregado por hora invertida. Si el contexto cambia (decenas de clientes, requisitos de acceso), el mismo esquema tiene rutas de evolución sin rehacer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2.png"/><Relationship Id="rId4" Type="http://schemas.openxmlformats.org/officeDocument/2006/relationships/image" Target="../media/image-9-2.png"/><Relationship Id="rId5" Type="http://schemas.openxmlformats.org/officeDocument/2006/relationships/image" Target="../media/image-9-2.png"/><Relationship Id="rId6" Type="http://schemas.openxmlformats.org/officeDocument/2006/relationships/image" Target="../media/image-9-6.png"/><Relationship Id="rId7" Type="http://schemas.openxmlformats.org/officeDocument/2006/relationships/image" Target="../media/image-9-6.png"/><Relationship Id="rId8" Type="http://schemas.openxmlformats.org/officeDocument/2006/relationships/image" Target="../media/image-9-6.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logo-white.png">    </p:cNvPr>
          <p:cNvPicPr>
            <a:picLocks noChangeAspect="1"/>
          </p:cNvPicPr>
          <p:nvPr/>
        </p:nvPicPr>
        <p:blipFill>
          <a:blip r:embed="rId2"/>
          <a:stretch>
            <a:fillRect/>
          </a:stretch>
        </p:blipFill>
        <p:spPr>
          <a:xfrm>
            <a:off x="685800" y="594360"/>
            <a:ext cx="1993392" cy="731520"/>
          </a:xfrm>
          <a:prstGeom prst="rect">
            <a:avLst/>
          </a:prstGeom>
        </p:spPr>
      </p:pic>
      <p:sp>
        <p:nvSpPr>
          <p:cNvPr id="3" name="Text 0"/>
          <p:cNvSpPr/>
          <p:nvPr/>
        </p:nvSpPr>
        <p:spPr>
          <a:xfrm>
            <a:off x="685800" y="2331720"/>
            <a:ext cx="10515600" cy="365760"/>
          </a:xfrm>
          <a:prstGeom prst="rect">
            <a:avLst/>
          </a:prstGeom>
          <a:noFill/>
          <a:ln/>
        </p:spPr>
        <p:txBody>
          <a:bodyPr wrap="square" lIns="0" tIns="0" rIns="0" bIns="0" rtlCol="0" anchor="ctr"/>
          <a:lstStyle/>
          <a:p>
            <a:pPr indent="0" marL="0">
              <a:buNone/>
            </a:pPr>
            <a:r>
              <a:rPr lang="en-US" sz="1500" b="1" spc="300" kern="0" dirty="0">
                <a:solidFill>
                  <a:srgbClr val="6EE7B7"/>
                </a:solidFill>
                <a:latin typeface="Calibri" pitchFamily="34" charset="0"/>
                <a:ea typeface="Calibri" pitchFamily="34" charset="-122"/>
                <a:cs typeface="Calibri" pitchFamily="34" charset="-120"/>
              </a:rPr>
              <a:t>PLATAFORMA DE INFORMES GERENCIALES DE FLOTA</a:t>
            </a:r>
            <a:endParaRPr lang="en-US" sz="1500" dirty="0"/>
          </a:p>
        </p:txBody>
      </p:sp>
      <p:sp>
        <p:nvSpPr>
          <p:cNvPr id="4" name="Text 1"/>
          <p:cNvSpPr/>
          <p:nvPr/>
        </p:nvSpPr>
        <p:spPr>
          <a:xfrm>
            <a:off x="685800" y="2743200"/>
            <a:ext cx="10789920" cy="2011680"/>
          </a:xfrm>
          <a:prstGeom prst="rect">
            <a:avLst/>
          </a:prstGeom>
          <a:noFill/>
          <a:ln/>
        </p:spPr>
        <p:txBody>
          <a:bodyPr wrap="square" lIns="0" tIns="0" rIns="0" bIns="0" rtlCol="0" anchor="ctr"/>
          <a:lstStyle/>
          <a:p>
            <a:pPr indent="0" marL="0">
              <a:lnSpc>
                <a:spcPts val="6000"/>
              </a:lnSpc>
              <a:buNone/>
            </a:pPr>
            <a:r>
              <a:rPr lang="en-US" sz="5400" b="1" dirty="0">
                <a:solidFill>
                  <a:srgbClr val="FFFFFF"/>
                </a:solidFill>
                <a:latin typeface="Calibri" pitchFamily="34" charset="0"/>
                <a:ea typeface="Calibri" pitchFamily="34" charset="-122"/>
                <a:cs typeface="Calibri" pitchFamily="34" charset="-120"/>
              </a:rPr>
              <a:t>Por qué elegimos</a:t>
            </a:r>
            <a:endParaRPr lang="en-US" sz="5400" dirty="0"/>
          </a:p>
          <a:p>
            <a:pPr indent="0" marL="0">
              <a:lnSpc>
                <a:spcPts val="6000"/>
              </a:lnSpc>
              <a:buNone/>
            </a:pPr>
            <a:r>
              <a:rPr lang="en-US" sz="5400" b="1" dirty="0">
                <a:solidFill>
                  <a:srgbClr val="FFFFFF"/>
                </a:solidFill>
                <a:latin typeface="Calibri" pitchFamily="34" charset="0"/>
                <a:ea typeface="Calibri" pitchFamily="34" charset="-122"/>
                <a:cs typeface="Calibri" pitchFamily="34" charset="-120"/>
              </a:rPr>
              <a:t>este camino</a:t>
            </a:r>
            <a:endParaRPr lang="en-US" sz="5400" dirty="0"/>
          </a:p>
        </p:txBody>
      </p:sp>
      <p:sp>
        <p:nvSpPr>
          <p:cNvPr id="5" name="Text 2"/>
          <p:cNvSpPr/>
          <p:nvPr/>
        </p:nvSpPr>
        <p:spPr>
          <a:xfrm>
            <a:off x="685800" y="4892040"/>
            <a:ext cx="9601200" cy="822960"/>
          </a:xfrm>
          <a:prstGeom prst="rect">
            <a:avLst/>
          </a:prstGeom>
          <a:noFill/>
          <a:ln/>
        </p:spPr>
        <p:txBody>
          <a:bodyPr wrap="square" lIns="0" tIns="0" rIns="0" bIns="0" rtlCol="0" anchor="ctr"/>
          <a:lstStyle/>
          <a:p>
            <a:pPr indent="0" marL="0">
              <a:lnSpc>
                <a:spcPts val="2200"/>
              </a:lnSpc>
              <a:buNone/>
            </a:pPr>
            <a:r>
              <a:rPr lang="en-US" sz="1600" dirty="0">
                <a:solidFill>
                  <a:srgbClr val="CFE8D8"/>
                </a:solidFill>
                <a:latin typeface="Calibri" pitchFamily="34" charset="0"/>
                <a:ea typeface="Calibri" pitchFamily="34" charset="-122"/>
                <a:cs typeface="Calibri" pitchFamily="34" charset="-120"/>
              </a:rPr>
              <a:t>Justificación técnica: un solo motor de informe, un pipeline automatizado</a:t>
            </a:r>
            <a:endParaRPr lang="en-US" sz="1600" dirty="0"/>
          </a:p>
          <a:p>
            <a:pPr indent="0" marL="0">
              <a:lnSpc>
                <a:spcPts val="2200"/>
              </a:lnSpc>
              <a:buNone/>
            </a:pPr>
            <a:r>
              <a:rPr lang="en-US" sz="1600" dirty="0">
                <a:solidFill>
                  <a:srgbClr val="CFE8D8"/>
                </a:solidFill>
                <a:latin typeface="Calibri" pitchFamily="34" charset="0"/>
                <a:ea typeface="Calibri" pitchFamily="34" charset="-122"/>
                <a:cs typeface="Calibri" pitchFamily="34" charset="-120"/>
              </a:rPr>
              <a:t>y publicación continua — sin servidores, sin licencias, sin fricción.</a:t>
            </a:r>
            <a:endParaRPr lang="en-US" sz="1600" dirty="0"/>
          </a:p>
        </p:txBody>
      </p:sp>
      <p:sp>
        <p:nvSpPr>
          <p:cNvPr id="6" name="Text 3"/>
          <p:cNvSpPr/>
          <p:nvPr/>
        </p:nvSpPr>
        <p:spPr>
          <a:xfrm>
            <a:off x="685800" y="6172200"/>
            <a:ext cx="9144000" cy="320040"/>
          </a:xfrm>
          <a:prstGeom prst="rect">
            <a:avLst/>
          </a:prstGeom>
          <a:noFill/>
          <a:ln/>
        </p:spPr>
        <p:txBody>
          <a:bodyPr wrap="square" lIns="0" tIns="0" rIns="0" bIns="0" rtlCol="0" anchor="ctr"/>
          <a:lstStyle/>
          <a:p>
            <a:pPr indent="0" marL="0">
              <a:buNone/>
            </a:pPr>
            <a:r>
              <a:rPr lang="en-US" sz="1200" dirty="0">
                <a:solidFill>
                  <a:srgbClr val="8FBFA4"/>
                </a:solidFill>
                <a:latin typeface="Calibri" pitchFamily="34" charset="0"/>
                <a:ea typeface="Calibri" pitchFamily="34" charset="-122"/>
                <a:cs typeface="Calibri" pitchFamily="34" charset="-120"/>
              </a:rPr>
              <a:t>Telematics Advance · Smart-Connect (API Mapon)  ·  Agosto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515600" cy="292608"/>
          </a:xfrm>
          <a:prstGeom prst="rect">
            <a:avLst/>
          </a:prstGeom>
          <a:noFill/>
          <a:ln/>
        </p:spPr>
        <p:txBody>
          <a:bodyPr wrap="square" lIns="0" tIns="0" rIns="0" bIns="0" rtlCol="0" anchor="ctr"/>
          <a:lstStyle/>
          <a:p>
            <a:pPr indent="0" marL="0">
              <a:buNone/>
            </a:pPr>
            <a:r>
              <a:rPr lang="en-US" sz="1200" b="1" spc="200" kern="0" dirty="0">
                <a:solidFill>
                  <a:srgbClr val="15803D"/>
                </a:solidFill>
                <a:latin typeface="Calibri" pitchFamily="34" charset="0"/>
                <a:ea typeface="Calibri" pitchFamily="34" charset="-122"/>
                <a:cs typeface="Calibri" pitchFamily="34" charset="-120"/>
              </a:rPr>
              <a:t>PUNTO DE PARTIDA</a:t>
            </a:r>
            <a:endParaRPr lang="en-US" sz="1200" dirty="0"/>
          </a:p>
        </p:txBody>
      </p:sp>
      <p:sp>
        <p:nvSpPr>
          <p:cNvPr id="3" name="Text 1"/>
          <p:cNvSpPr/>
          <p:nvPr/>
        </p:nvSpPr>
        <p:spPr>
          <a:xfrm>
            <a:off x="502920" y="658368"/>
            <a:ext cx="10424160" cy="658368"/>
          </a:xfrm>
          <a:prstGeom prst="rect">
            <a:avLst/>
          </a:prstGeom>
          <a:noFill/>
          <a:ln/>
        </p:spPr>
        <p:txBody>
          <a:bodyPr wrap="square" lIns="0" tIns="0" rIns="0" bIns="0" rtlCol="0" anchor="ctr"/>
          <a:lstStyle/>
          <a:p>
            <a:pPr indent="0" marL="0">
              <a:buNone/>
            </a:pPr>
            <a:r>
              <a:rPr lang="en-US" sz="3000" b="1" dirty="0">
                <a:solidFill>
                  <a:srgbClr val="10261C"/>
                </a:solidFill>
                <a:latin typeface="Calibri" pitchFamily="34" charset="0"/>
                <a:ea typeface="Calibri" pitchFamily="34" charset="-122"/>
                <a:cs typeface="Calibri" pitchFamily="34" charset="-120"/>
              </a:rPr>
              <a:t>Lo que el negocio necesitaba</a:t>
            </a:r>
            <a:endParaRPr lang="en-US" sz="3000" dirty="0"/>
          </a:p>
        </p:txBody>
      </p:sp>
      <p:pic>
        <p:nvPicPr>
          <p:cNvPr id="4" name="Image 0" descr="isotipo-green.png">    </p:cNvPr>
          <p:cNvPicPr>
            <a:picLocks noChangeAspect="1"/>
          </p:cNvPicPr>
          <p:nvPr/>
        </p:nvPicPr>
        <p:blipFill>
          <a:blip r:embed="rId1">
            <a:alphaModFix amt="80000"/>
          </a:blip>
          <a:stretch>
            <a:fillRect/>
          </a:stretch>
        </p:blipFill>
        <p:spPr>
          <a:xfrm>
            <a:off x="11228832" y="384048"/>
            <a:ext cx="457200" cy="498348"/>
          </a:xfrm>
          <a:prstGeom prst="rect">
            <a:avLst/>
          </a:prstGeom>
        </p:spPr>
      </p:pic>
      <p:sp>
        <p:nvSpPr>
          <p:cNvPr id="5" name="Shape 2"/>
          <p:cNvSpPr/>
          <p:nvPr/>
        </p:nvSpPr>
        <p:spPr>
          <a:xfrm>
            <a:off x="502920" y="1627632"/>
            <a:ext cx="3602736" cy="1993392"/>
          </a:xfrm>
          <a:prstGeom prst="roundRect">
            <a:avLst>
              <a:gd name="adj" fmla="val 4128"/>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6" name="Shape 3"/>
          <p:cNvSpPr/>
          <p:nvPr/>
        </p:nvSpPr>
        <p:spPr>
          <a:xfrm>
            <a:off x="704088" y="1828800"/>
            <a:ext cx="475488" cy="475488"/>
          </a:xfrm>
          <a:prstGeom prst="ellipse">
            <a:avLst/>
          </a:prstGeom>
          <a:solidFill>
            <a:srgbClr val="15803D"/>
          </a:solidFill>
          <a:ln/>
        </p:spPr>
      </p:sp>
      <p:pic>
        <p:nvPicPr>
          <p:cNvPr id="7" name="Image 1" descr="ic-satellite-w.png">    </p:cNvPr>
          <p:cNvPicPr>
            <a:picLocks noChangeAspect="1"/>
          </p:cNvPicPr>
          <p:nvPr/>
        </p:nvPicPr>
        <p:blipFill>
          <a:blip r:embed="rId2"/>
          <a:stretch>
            <a:fillRect/>
          </a:stretch>
        </p:blipFill>
        <p:spPr>
          <a:xfrm>
            <a:off x="813816" y="1938528"/>
            <a:ext cx="256032" cy="256032"/>
          </a:xfrm>
          <a:prstGeom prst="rect">
            <a:avLst/>
          </a:prstGeom>
        </p:spPr>
      </p:pic>
      <p:sp>
        <p:nvSpPr>
          <p:cNvPr id="8" name="Text 4"/>
          <p:cNvSpPr/>
          <p:nvPr/>
        </p:nvSpPr>
        <p:spPr>
          <a:xfrm>
            <a:off x="1307592" y="1810512"/>
            <a:ext cx="2642616" cy="512064"/>
          </a:xfrm>
          <a:prstGeom prst="rect">
            <a:avLst/>
          </a:prstGeom>
          <a:noFill/>
          <a:ln/>
        </p:spPr>
        <p:txBody>
          <a:bodyPr wrap="square" lIns="0" tIns="0" rIns="0" bIns="0" rtlCol="0" anchor="ctr"/>
          <a:lstStyle/>
          <a:p>
            <a:pPr indent="0" marL="0">
              <a:buNone/>
            </a:pPr>
            <a:r>
              <a:rPr lang="en-US" sz="1400" b="1" dirty="0">
                <a:solidFill>
                  <a:srgbClr val="10261C"/>
                </a:solidFill>
                <a:latin typeface="Calibri" pitchFamily="34" charset="0"/>
                <a:ea typeface="Calibri" pitchFamily="34" charset="-122"/>
                <a:cs typeface="Calibri" pitchFamily="34" charset="-120"/>
              </a:rPr>
              <a:t>Datos reales, no capturas</a:t>
            </a:r>
            <a:endParaRPr lang="en-US" sz="1400" dirty="0"/>
          </a:p>
        </p:txBody>
      </p:sp>
      <p:sp>
        <p:nvSpPr>
          <p:cNvPr id="9" name="Text 5"/>
          <p:cNvSpPr/>
          <p:nvPr/>
        </p:nvSpPr>
        <p:spPr>
          <a:xfrm>
            <a:off x="722376" y="2414016"/>
            <a:ext cx="3163824" cy="1060704"/>
          </a:xfrm>
          <a:prstGeom prst="rect">
            <a:avLst/>
          </a:prstGeom>
          <a:noFill/>
          <a:ln/>
        </p:spPr>
        <p:txBody>
          <a:bodyPr wrap="square" lIns="0" tIns="0" rIns="0" bIns="0" rtlCol="0" anchor="t"/>
          <a:lstStyle/>
          <a:p>
            <a:pPr indent="0" marL="0">
              <a:buNone/>
            </a:pPr>
            <a:r>
              <a:rPr lang="en-US" sz="1150" dirty="0">
                <a:solidFill>
                  <a:srgbClr val="4C6053"/>
                </a:solidFill>
                <a:latin typeface="Calibri" pitchFamily="34" charset="0"/>
                <a:ea typeface="Calibri" pitchFamily="34" charset="-122"/>
                <a:cs typeface="Calibri" pitchFamily="34" charset="-120"/>
              </a:rPr>
              <a:t>KPIs directos del CAN de cada unidad vía API Mapon: kilómetros, litros, alertas, velocidad, ralentí.</a:t>
            </a:r>
            <a:endParaRPr lang="en-US" sz="1150" dirty="0"/>
          </a:p>
        </p:txBody>
      </p:sp>
      <p:sp>
        <p:nvSpPr>
          <p:cNvPr id="10" name="Shape 6"/>
          <p:cNvSpPr/>
          <p:nvPr/>
        </p:nvSpPr>
        <p:spPr>
          <a:xfrm>
            <a:off x="4334256" y="1627632"/>
            <a:ext cx="3602736" cy="1993392"/>
          </a:xfrm>
          <a:prstGeom prst="roundRect">
            <a:avLst>
              <a:gd name="adj" fmla="val 4128"/>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11" name="Shape 7"/>
          <p:cNvSpPr/>
          <p:nvPr/>
        </p:nvSpPr>
        <p:spPr>
          <a:xfrm>
            <a:off x="4535424" y="1828800"/>
            <a:ext cx="475488" cy="475488"/>
          </a:xfrm>
          <a:prstGeom prst="ellipse">
            <a:avLst/>
          </a:prstGeom>
          <a:solidFill>
            <a:srgbClr val="15803D"/>
          </a:solidFill>
          <a:ln/>
        </p:spPr>
      </p:sp>
      <p:pic>
        <p:nvPicPr>
          <p:cNvPr id="12" name="Image 2" descr="ic-clock-w.png">    </p:cNvPr>
          <p:cNvPicPr>
            <a:picLocks noChangeAspect="1"/>
          </p:cNvPicPr>
          <p:nvPr/>
        </p:nvPicPr>
        <p:blipFill>
          <a:blip r:embed="rId3"/>
          <a:stretch>
            <a:fillRect/>
          </a:stretch>
        </p:blipFill>
        <p:spPr>
          <a:xfrm>
            <a:off x="4645152" y="1938528"/>
            <a:ext cx="256032" cy="256032"/>
          </a:xfrm>
          <a:prstGeom prst="rect">
            <a:avLst/>
          </a:prstGeom>
        </p:spPr>
      </p:pic>
      <p:sp>
        <p:nvSpPr>
          <p:cNvPr id="13" name="Text 8"/>
          <p:cNvSpPr/>
          <p:nvPr/>
        </p:nvSpPr>
        <p:spPr>
          <a:xfrm>
            <a:off x="5138928" y="1810512"/>
            <a:ext cx="2642616" cy="512064"/>
          </a:xfrm>
          <a:prstGeom prst="rect">
            <a:avLst/>
          </a:prstGeom>
          <a:noFill/>
          <a:ln/>
        </p:spPr>
        <p:txBody>
          <a:bodyPr wrap="square" lIns="0" tIns="0" rIns="0" bIns="0" rtlCol="0" anchor="ctr"/>
          <a:lstStyle/>
          <a:p>
            <a:pPr indent="0" marL="0">
              <a:buNone/>
            </a:pPr>
            <a:r>
              <a:rPr lang="en-US" sz="1400" b="1" dirty="0">
                <a:solidFill>
                  <a:srgbClr val="10261C"/>
                </a:solidFill>
                <a:latin typeface="Calibri" pitchFamily="34" charset="0"/>
                <a:ea typeface="Calibri" pitchFamily="34" charset="-122"/>
                <a:cs typeface="Calibri" pitchFamily="34" charset="-120"/>
              </a:rPr>
              <a:t>Amanecer actualizado</a:t>
            </a:r>
            <a:endParaRPr lang="en-US" sz="1400" dirty="0"/>
          </a:p>
        </p:txBody>
      </p:sp>
      <p:sp>
        <p:nvSpPr>
          <p:cNvPr id="14" name="Text 9"/>
          <p:cNvSpPr/>
          <p:nvPr/>
        </p:nvSpPr>
        <p:spPr>
          <a:xfrm>
            <a:off x="4553712" y="2414016"/>
            <a:ext cx="3163824" cy="1060704"/>
          </a:xfrm>
          <a:prstGeom prst="rect">
            <a:avLst/>
          </a:prstGeom>
          <a:noFill/>
          <a:ln/>
        </p:spPr>
        <p:txBody>
          <a:bodyPr wrap="square" lIns="0" tIns="0" rIns="0" bIns="0" rtlCol="0" anchor="t"/>
          <a:lstStyle/>
          <a:p>
            <a:pPr indent="0" marL="0">
              <a:buNone/>
            </a:pPr>
            <a:r>
              <a:rPr lang="en-US" sz="1150" dirty="0">
                <a:solidFill>
                  <a:srgbClr val="4C6053"/>
                </a:solidFill>
                <a:latin typeface="Calibri" pitchFamily="34" charset="0"/>
                <a:ea typeface="Calibri" pitchFamily="34" charset="-122"/>
                <a:cs typeface="Calibri" pitchFamily="34" charset="-120"/>
              </a:rPr>
              <a:t>El informe debe regenerarse todos los días sin que nadie tenga que acordarse de correr nada.</a:t>
            </a:r>
            <a:endParaRPr lang="en-US" sz="1150" dirty="0"/>
          </a:p>
        </p:txBody>
      </p:sp>
      <p:sp>
        <p:nvSpPr>
          <p:cNvPr id="15" name="Shape 10"/>
          <p:cNvSpPr/>
          <p:nvPr/>
        </p:nvSpPr>
        <p:spPr>
          <a:xfrm>
            <a:off x="8165592" y="1627632"/>
            <a:ext cx="3602736" cy="1993392"/>
          </a:xfrm>
          <a:prstGeom prst="roundRect">
            <a:avLst>
              <a:gd name="adj" fmla="val 4128"/>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16" name="Shape 11"/>
          <p:cNvSpPr/>
          <p:nvPr/>
        </p:nvSpPr>
        <p:spPr>
          <a:xfrm>
            <a:off x="8366760" y="1828800"/>
            <a:ext cx="475488" cy="475488"/>
          </a:xfrm>
          <a:prstGeom prst="ellipse">
            <a:avLst/>
          </a:prstGeom>
          <a:solidFill>
            <a:srgbClr val="15803D"/>
          </a:solidFill>
          <a:ln/>
        </p:spPr>
      </p:sp>
      <p:pic>
        <p:nvPicPr>
          <p:cNvPr id="17" name="Image 3" descr="ic-users-w.png">    </p:cNvPr>
          <p:cNvPicPr>
            <a:picLocks noChangeAspect="1"/>
          </p:cNvPicPr>
          <p:nvPr/>
        </p:nvPicPr>
        <p:blipFill>
          <a:blip r:embed="rId4"/>
          <a:stretch>
            <a:fillRect/>
          </a:stretch>
        </p:blipFill>
        <p:spPr>
          <a:xfrm>
            <a:off x="8476488" y="1938528"/>
            <a:ext cx="256032" cy="256032"/>
          </a:xfrm>
          <a:prstGeom prst="rect">
            <a:avLst/>
          </a:prstGeom>
        </p:spPr>
      </p:pic>
      <p:sp>
        <p:nvSpPr>
          <p:cNvPr id="18" name="Text 12"/>
          <p:cNvSpPr/>
          <p:nvPr/>
        </p:nvSpPr>
        <p:spPr>
          <a:xfrm>
            <a:off x="8970264" y="1810512"/>
            <a:ext cx="2642616" cy="512064"/>
          </a:xfrm>
          <a:prstGeom prst="rect">
            <a:avLst/>
          </a:prstGeom>
          <a:noFill/>
          <a:ln/>
        </p:spPr>
        <p:txBody>
          <a:bodyPr wrap="square" lIns="0" tIns="0" rIns="0" bIns="0" rtlCol="0" anchor="ctr"/>
          <a:lstStyle/>
          <a:p>
            <a:pPr indent="0" marL="0">
              <a:buNone/>
            </a:pPr>
            <a:r>
              <a:rPr lang="en-US" sz="1400" b="1" dirty="0">
                <a:solidFill>
                  <a:srgbClr val="10261C"/>
                </a:solidFill>
                <a:latin typeface="Calibri" pitchFamily="34" charset="0"/>
                <a:ea typeface="Calibri" pitchFamily="34" charset="-122"/>
                <a:cs typeface="Calibri" pitchFamily="34" charset="-120"/>
              </a:rPr>
              <a:t>Multi-cliente comparable</a:t>
            </a:r>
            <a:endParaRPr lang="en-US" sz="1400" dirty="0"/>
          </a:p>
        </p:txBody>
      </p:sp>
      <p:sp>
        <p:nvSpPr>
          <p:cNvPr id="19" name="Text 13"/>
          <p:cNvSpPr/>
          <p:nvPr/>
        </p:nvSpPr>
        <p:spPr>
          <a:xfrm>
            <a:off x="8385048" y="2414016"/>
            <a:ext cx="3163824" cy="1060704"/>
          </a:xfrm>
          <a:prstGeom prst="rect">
            <a:avLst/>
          </a:prstGeom>
          <a:noFill/>
          <a:ln/>
        </p:spPr>
        <p:txBody>
          <a:bodyPr wrap="square" lIns="0" tIns="0" rIns="0" bIns="0" rtlCol="0" anchor="t"/>
          <a:lstStyle/>
          <a:p>
            <a:pPr indent="0" marL="0">
              <a:buNone/>
            </a:pPr>
            <a:r>
              <a:rPr lang="en-US" sz="1150" dirty="0">
                <a:solidFill>
                  <a:srgbClr val="4C6053"/>
                </a:solidFill>
                <a:latin typeface="Calibri" pitchFamily="34" charset="0"/>
                <a:ea typeface="Calibri" pitchFamily="34" charset="-122"/>
                <a:cs typeface="Calibri" pitchFamily="34" charset="-120"/>
              </a:rPr>
              <a:t>El mismo análisis, con la misma estructura y rigor, para cada cliente de Advance.</a:t>
            </a:r>
            <a:endParaRPr lang="en-US" sz="1150" dirty="0"/>
          </a:p>
        </p:txBody>
      </p:sp>
      <p:sp>
        <p:nvSpPr>
          <p:cNvPr id="20" name="Shape 14"/>
          <p:cNvSpPr/>
          <p:nvPr/>
        </p:nvSpPr>
        <p:spPr>
          <a:xfrm>
            <a:off x="502920" y="3858768"/>
            <a:ext cx="3602736" cy="1993392"/>
          </a:xfrm>
          <a:prstGeom prst="roundRect">
            <a:avLst>
              <a:gd name="adj" fmla="val 4128"/>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21" name="Shape 15"/>
          <p:cNvSpPr/>
          <p:nvPr/>
        </p:nvSpPr>
        <p:spPr>
          <a:xfrm>
            <a:off x="704088" y="4059936"/>
            <a:ext cx="475488" cy="475488"/>
          </a:xfrm>
          <a:prstGeom prst="ellipse">
            <a:avLst/>
          </a:prstGeom>
          <a:solidFill>
            <a:srgbClr val="15803D"/>
          </a:solidFill>
          <a:ln/>
        </p:spPr>
      </p:sp>
      <p:pic>
        <p:nvPicPr>
          <p:cNvPr id="22" name="Image 4" descr="ic-link-w.png">    </p:cNvPr>
          <p:cNvPicPr>
            <a:picLocks noChangeAspect="1"/>
          </p:cNvPicPr>
          <p:nvPr/>
        </p:nvPicPr>
        <p:blipFill>
          <a:blip r:embed="rId5"/>
          <a:stretch>
            <a:fillRect/>
          </a:stretch>
        </p:blipFill>
        <p:spPr>
          <a:xfrm>
            <a:off x="813816" y="4169664"/>
            <a:ext cx="256032" cy="256032"/>
          </a:xfrm>
          <a:prstGeom prst="rect">
            <a:avLst/>
          </a:prstGeom>
        </p:spPr>
      </p:pic>
      <p:sp>
        <p:nvSpPr>
          <p:cNvPr id="23" name="Text 16"/>
          <p:cNvSpPr/>
          <p:nvPr/>
        </p:nvSpPr>
        <p:spPr>
          <a:xfrm>
            <a:off x="1307592" y="4041648"/>
            <a:ext cx="2642616" cy="512064"/>
          </a:xfrm>
          <a:prstGeom prst="rect">
            <a:avLst/>
          </a:prstGeom>
          <a:noFill/>
          <a:ln/>
        </p:spPr>
        <p:txBody>
          <a:bodyPr wrap="square" lIns="0" tIns="0" rIns="0" bIns="0" rtlCol="0" anchor="ctr"/>
          <a:lstStyle/>
          <a:p>
            <a:pPr indent="0" marL="0">
              <a:buNone/>
            </a:pPr>
            <a:r>
              <a:rPr lang="en-US" sz="1400" b="1" dirty="0">
                <a:solidFill>
                  <a:srgbClr val="10261C"/>
                </a:solidFill>
                <a:latin typeface="Calibri" pitchFamily="34" charset="0"/>
                <a:ea typeface="Calibri" pitchFamily="34" charset="-122"/>
                <a:cs typeface="Calibri" pitchFamily="34" charset="-120"/>
              </a:rPr>
              <a:t>Una liga por cliente</a:t>
            </a:r>
            <a:endParaRPr lang="en-US" sz="1400" dirty="0"/>
          </a:p>
        </p:txBody>
      </p:sp>
      <p:sp>
        <p:nvSpPr>
          <p:cNvPr id="24" name="Text 17"/>
          <p:cNvSpPr/>
          <p:nvPr/>
        </p:nvSpPr>
        <p:spPr>
          <a:xfrm>
            <a:off x="722376" y="4645152"/>
            <a:ext cx="3163824" cy="1060704"/>
          </a:xfrm>
          <a:prstGeom prst="rect">
            <a:avLst/>
          </a:prstGeom>
          <a:noFill/>
          <a:ln/>
        </p:spPr>
        <p:txBody>
          <a:bodyPr wrap="square" lIns="0" tIns="0" rIns="0" bIns="0" rtlCol="0" anchor="t"/>
          <a:lstStyle/>
          <a:p>
            <a:pPr indent="0" marL="0">
              <a:buNone/>
            </a:pPr>
            <a:r>
              <a:rPr lang="en-US" sz="1150" dirty="0">
                <a:solidFill>
                  <a:srgbClr val="4C6053"/>
                </a:solidFill>
                <a:latin typeface="Calibri" pitchFamily="34" charset="0"/>
                <a:ea typeface="Calibri" pitchFamily="34" charset="-122"/>
                <a:cs typeface="Calibri" pitchFamily="34" charset="-120"/>
              </a:rPr>
              <a:t>Compartible por WhatsApp o correo, y que abra al instante en iPad, móvil o PC, sin instalar nada.</a:t>
            </a:r>
            <a:endParaRPr lang="en-US" sz="1150" dirty="0"/>
          </a:p>
        </p:txBody>
      </p:sp>
      <p:sp>
        <p:nvSpPr>
          <p:cNvPr id="25" name="Shape 18"/>
          <p:cNvSpPr/>
          <p:nvPr/>
        </p:nvSpPr>
        <p:spPr>
          <a:xfrm>
            <a:off x="4334256" y="3858768"/>
            <a:ext cx="3602736" cy="1993392"/>
          </a:xfrm>
          <a:prstGeom prst="roundRect">
            <a:avLst>
              <a:gd name="adj" fmla="val 4128"/>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26" name="Shape 19"/>
          <p:cNvSpPr/>
          <p:nvPr/>
        </p:nvSpPr>
        <p:spPr>
          <a:xfrm>
            <a:off x="4535424" y="4059936"/>
            <a:ext cx="475488" cy="475488"/>
          </a:xfrm>
          <a:prstGeom prst="ellipse">
            <a:avLst/>
          </a:prstGeom>
          <a:solidFill>
            <a:srgbClr val="15803D"/>
          </a:solidFill>
          <a:ln/>
        </p:spPr>
      </p:sp>
      <p:pic>
        <p:nvPicPr>
          <p:cNvPr id="27" name="Image 5" descr="ic-lock-w.png">    </p:cNvPr>
          <p:cNvPicPr>
            <a:picLocks noChangeAspect="1"/>
          </p:cNvPicPr>
          <p:nvPr/>
        </p:nvPicPr>
        <p:blipFill>
          <a:blip r:embed="rId6"/>
          <a:stretch>
            <a:fillRect/>
          </a:stretch>
        </p:blipFill>
        <p:spPr>
          <a:xfrm>
            <a:off x="4645152" y="4169664"/>
            <a:ext cx="256032" cy="256032"/>
          </a:xfrm>
          <a:prstGeom prst="rect">
            <a:avLst/>
          </a:prstGeom>
        </p:spPr>
      </p:pic>
      <p:sp>
        <p:nvSpPr>
          <p:cNvPr id="28" name="Text 20"/>
          <p:cNvSpPr/>
          <p:nvPr/>
        </p:nvSpPr>
        <p:spPr>
          <a:xfrm>
            <a:off x="5138928" y="4041648"/>
            <a:ext cx="2642616" cy="512064"/>
          </a:xfrm>
          <a:prstGeom prst="rect">
            <a:avLst/>
          </a:prstGeom>
          <a:noFill/>
          <a:ln/>
        </p:spPr>
        <p:txBody>
          <a:bodyPr wrap="square" lIns="0" tIns="0" rIns="0" bIns="0" rtlCol="0" anchor="ctr"/>
          <a:lstStyle/>
          <a:p>
            <a:pPr indent="0" marL="0">
              <a:buNone/>
            </a:pPr>
            <a:r>
              <a:rPr lang="en-US" sz="1400" b="1" dirty="0">
                <a:solidFill>
                  <a:srgbClr val="10261C"/>
                </a:solidFill>
                <a:latin typeface="Calibri" pitchFamily="34" charset="0"/>
                <a:ea typeface="Calibri" pitchFamily="34" charset="-122"/>
                <a:cs typeface="Calibri" pitchFamily="34" charset="-120"/>
              </a:rPr>
              <a:t>API keys protegidas</a:t>
            </a:r>
            <a:endParaRPr lang="en-US" sz="1400" dirty="0"/>
          </a:p>
        </p:txBody>
      </p:sp>
      <p:sp>
        <p:nvSpPr>
          <p:cNvPr id="29" name="Text 21"/>
          <p:cNvSpPr/>
          <p:nvPr/>
        </p:nvSpPr>
        <p:spPr>
          <a:xfrm>
            <a:off x="4553712" y="4645152"/>
            <a:ext cx="3163824" cy="1060704"/>
          </a:xfrm>
          <a:prstGeom prst="rect">
            <a:avLst/>
          </a:prstGeom>
          <a:noFill/>
          <a:ln/>
        </p:spPr>
        <p:txBody>
          <a:bodyPr wrap="square" lIns="0" tIns="0" rIns="0" bIns="0" rtlCol="0" anchor="t"/>
          <a:lstStyle/>
          <a:p>
            <a:pPr indent="0" marL="0">
              <a:buNone/>
            </a:pPr>
            <a:r>
              <a:rPr lang="en-US" sz="1150" dirty="0">
                <a:solidFill>
                  <a:srgbClr val="4C6053"/>
                </a:solidFill>
                <a:latin typeface="Calibri" pitchFamily="34" charset="0"/>
                <a:ea typeface="Calibri" pitchFamily="34" charset="-122"/>
                <a:cs typeface="Calibri" pitchFamily="34" charset="-120"/>
              </a:rPr>
              <a:t>La llave de cada cliente jamás puede quedar expuesta en el informe, el código o los logs.</a:t>
            </a:r>
            <a:endParaRPr lang="en-US" sz="1150" dirty="0"/>
          </a:p>
        </p:txBody>
      </p:sp>
      <p:sp>
        <p:nvSpPr>
          <p:cNvPr id="30" name="Shape 22"/>
          <p:cNvSpPr/>
          <p:nvPr/>
        </p:nvSpPr>
        <p:spPr>
          <a:xfrm>
            <a:off x="8165592" y="3858768"/>
            <a:ext cx="3602736" cy="1993392"/>
          </a:xfrm>
          <a:prstGeom prst="roundRect">
            <a:avLst>
              <a:gd name="adj" fmla="val 4128"/>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31" name="Shape 23"/>
          <p:cNvSpPr/>
          <p:nvPr/>
        </p:nvSpPr>
        <p:spPr>
          <a:xfrm>
            <a:off x="8366760" y="4059936"/>
            <a:ext cx="475488" cy="475488"/>
          </a:xfrm>
          <a:prstGeom prst="ellipse">
            <a:avLst/>
          </a:prstGeom>
          <a:solidFill>
            <a:srgbClr val="15803D"/>
          </a:solidFill>
          <a:ln/>
        </p:spPr>
      </p:sp>
      <p:pic>
        <p:nvPicPr>
          <p:cNvPr id="32" name="Image 6" descr="ic-coins-w.png">    </p:cNvPr>
          <p:cNvPicPr>
            <a:picLocks noChangeAspect="1"/>
          </p:cNvPicPr>
          <p:nvPr/>
        </p:nvPicPr>
        <p:blipFill>
          <a:blip r:embed="rId7"/>
          <a:stretch>
            <a:fillRect/>
          </a:stretch>
        </p:blipFill>
        <p:spPr>
          <a:xfrm>
            <a:off x="8476488" y="4169664"/>
            <a:ext cx="256032" cy="256032"/>
          </a:xfrm>
          <a:prstGeom prst="rect">
            <a:avLst/>
          </a:prstGeom>
        </p:spPr>
      </p:pic>
      <p:sp>
        <p:nvSpPr>
          <p:cNvPr id="33" name="Text 24"/>
          <p:cNvSpPr/>
          <p:nvPr/>
        </p:nvSpPr>
        <p:spPr>
          <a:xfrm>
            <a:off x="8970264" y="4041648"/>
            <a:ext cx="2642616" cy="512064"/>
          </a:xfrm>
          <a:prstGeom prst="rect">
            <a:avLst/>
          </a:prstGeom>
          <a:noFill/>
          <a:ln/>
        </p:spPr>
        <p:txBody>
          <a:bodyPr wrap="square" lIns="0" tIns="0" rIns="0" bIns="0" rtlCol="0" anchor="ctr"/>
          <a:lstStyle/>
          <a:p>
            <a:pPr indent="0" marL="0">
              <a:buNone/>
            </a:pPr>
            <a:r>
              <a:rPr lang="en-US" sz="1400" b="1" dirty="0">
                <a:solidFill>
                  <a:srgbClr val="10261C"/>
                </a:solidFill>
                <a:latin typeface="Calibri" pitchFamily="34" charset="0"/>
                <a:ea typeface="Calibri" pitchFamily="34" charset="-122"/>
                <a:cs typeface="Calibri" pitchFamily="34" charset="-120"/>
              </a:rPr>
              <a:t>Costo mínimo de operación</a:t>
            </a:r>
            <a:endParaRPr lang="en-US" sz="1400" dirty="0"/>
          </a:p>
        </p:txBody>
      </p:sp>
      <p:sp>
        <p:nvSpPr>
          <p:cNvPr id="34" name="Text 25"/>
          <p:cNvSpPr/>
          <p:nvPr/>
        </p:nvSpPr>
        <p:spPr>
          <a:xfrm>
            <a:off x="8385048" y="4645152"/>
            <a:ext cx="3163824" cy="1060704"/>
          </a:xfrm>
          <a:prstGeom prst="rect">
            <a:avLst/>
          </a:prstGeom>
          <a:noFill/>
          <a:ln/>
        </p:spPr>
        <p:txBody>
          <a:bodyPr wrap="square" lIns="0" tIns="0" rIns="0" bIns="0" rtlCol="0" anchor="t"/>
          <a:lstStyle/>
          <a:p>
            <a:pPr indent="0" marL="0">
              <a:buNone/>
            </a:pPr>
            <a:r>
              <a:rPr lang="en-US" sz="1150" dirty="0">
                <a:solidFill>
                  <a:srgbClr val="4C6053"/>
                </a:solidFill>
                <a:latin typeface="Calibri" pitchFamily="34" charset="0"/>
                <a:ea typeface="Calibri" pitchFamily="34" charset="-122"/>
                <a:cs typeface="Calibri" pitchFamily="34" charset="-120"/>
              </a:rPr>
              <a:t>Sin servidores propios ni licencias por usuario que erosionen el margen del servicio.</a:t>
            </a:r>
            <a:endParaRPr lang="en-US" sz="1150" dirty="0"/>
          </a:p>
        </p:txBody>
      </p:sp>
      <p:sp>
        <p:nvSpPr>
          <p:cNvPr id="35" name="Text 26"/>
          <p:cNvSpPr/>
          <p:nvPr/>
        </p:nvSpPr>
        <p:spPr>
          <a:xfrm>
            <a:off x="502920" y="6016752"/>
            <a:ext cx="11155680" cy="365760"/>
          </a:xfrm>
          <a:prstGeom prst="rect">
            <a:avLst/>
          </a:prstGeom>
          <a:noFill/>
          <a:ln/>
        </p:spPr>
        <p:txBody>
          <a:bodyPr wrap="square" lIns="0" tIns="0" rIns="0" bIns="0" rtlCol="0" anchor="ctr"/>
          <a:lstStyle/>
          <a:p>
            <a:pPr indent="0" marL="0">
              <a:buNone/>
            </a:pPr>
            <a:r>
              <a:rPr lang="en-US" sz="1300" i="1" dirty="0">
                <a:solidFill>
                  <a:srgbClr val="4C6053"/>
                </a:solidFill>
                <a:latin typeface="Calibri" pitchFamily="34" charset="0"/>
                <a:ea typeface="Calibri" pitchFamily="34" charset="-122"/>
                <a:cs typeface="Calibri" pitchFamily="34" charset="-120"/>
              </a:rPr>
              <a:t>Seis requisitos, una restricción común: </a:t>
            </a:r>
            <a:pPr indent="0" marL="0">
              <a:buNone/>
            </a:pPr>
            <a:r>
              <a:rPr lang="en-US" sz="1300" b="1" i="1" dirty="0">
                <a:solidFill>
                  <a:srgbClr val="15803D"/>
                </a:solidFill>
                <a:latin typeface="Calibri" pitchFamily="34" charset="0"/>
                <a:ea typeface="Calibri" pitchFamily="34" charset="-122"/>
                <a:cs typeface="Calibri" pitchFamily="34" charset="-120"/>
              </a:rPr>
              <a:t>máximo valor analítico con mínima infraestructura que mantener.</a:t>
            </a:r>
            <a:endParaRPr lang="en-US" sz="1300" dirty="0"/>
          </a:p>
        </p:txBody>
      </p:sp>
      <p:sp>
        <p:nvSpPr>
          <p:cNvPr id="36" name="Text 27"/>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5A08F"/>
                </a:solidFill>
                <a:latin typeface="Calibri" pitchFamily="34" charset="0"/>
                <a:ea typeface="Calibri" pitchFamily="34" charset="-122"/>
                <a:cs typeface="Calibri" pitchFamily="34" charset="-120"/>
              </a:rPr>
              <a:t>Advance · Justificación técnica de la plataforma de informes</a:t>
            </a:r>
            <a:endParaRPr lang="en-US" sz="900" dirty="0"/>
          </a:p>
        </p:txBody>
      </p:sp>
      <p:sp>
        <p:nvSpPr>
          <p:cNvPr id="37" name="Text 28"/>
          <p:cNvSpPr/>
          <p:nvPr/>
        </p:nvSpPr>
        <p:spPr>
          <a:xfrm>
            <a:off x="11365992" y="6510528"/>
            <a:ext cx="365760" cy="274320"/>
          </a:xfrm>
          <a:prstGeom prst="rect">
            <a:avLst/>
          </a:prstGeom>
          <a:noFill/>
          <a:ln/>
        </p:spPr>
        <p:txBody>
          <a:bodyPr wrap="square" lIns="0" tIns="0" rIns="0" bIns="0" rtlCol="0" anchor="ctr"/>
          <a:lstStyle/>
          <a:p>
            <a:pPr algn="r" indent="0" marL="0">
              <a:buNone/>
            </a:pPr>
            <a:r>
              <a:rPr lang="en-US" sz="900" dirty="0">
                <a:solidFill>
                  <a:srgbClr val="85A08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515600" cy="292608"/>
          </a:xfrm>
          <a:prstGeom prst="rect">
            <a:avLst/>
          </a:prstGeom>
          <a:noFill/>
          <a:ln/>
        </p:spPr>
        <p:txBody>
          <a:bodyPr wrap="square" lIns="0" tIns="0" rIns="0" bIns="0" rtlCol="0" anchor="ctr"/>
          <a:lstStyle/>
          <a:p>
            <a:pPr indent="0" marL="0">
              <a:buNone/>
            </a:pPr>
            <a:r>
              <a:rPr lang="en-US" sz="1200" b="1" spc="200" kern="0" dirty="0">
                <a:solidFill>
                  <a:srgbClr val="15803D"/>
                </a:solidFill>
                <a:latin typeface="Calibri" pitchFamily="34" charset="0"/>
                <a:ea typeface="Calibri" pitchFamily="34" charset="-122"/>
                <a:cs typeface="Calibri" pitchFamily="34" charset="-120"/>
              </a:rPr>
              <a:t>LA DECISIÓN</a:t>
            </a:r>
            <a:endParaRPr lang="en-US" sz="1200" dirty="0"/>
          </a:p>
        </p:txBody>
      </p:sp>
      <p:sp>
        <p:nvSpPr>
          <p:cNvPr id="3" name="Text 1"/>
          <p:cNvSpPr/>
          <p:nvPr/>
        </p:nvSpPr>
        <p:spPr>
          <a:xfrm>
            <a:off x="502920" y="658368"/>
            <a:ext cx="10424160" cy="658368"/>
          </a:xfrm>
          <a:prstGeom prst="rect">
            <a:avLst/>
          </a:prstGeom>
          <a:noFill/>
          <a:ln/>
        </p:spPr>
        <p:txBody>
          <a:bodyPr wrap="square" lIns="0" tIns="0" rIns="0" bIns="0" rtlCol="0" anchor="ctr"/>
          <a:lstStyle/>
          <a:p>
            <a:pPr indent="0" marL="0">
              <a:buNone/>
            </a:pPr>
            <a:r>
              <a:rPr lang="en-US" sz="3000" b="1" dirty="0">
                <a:solidFill>
                  <a:srgbClr val="10261C"/>
                </a:solidFill>
                <a:latin typeface="Calibri" pitchFamily="34" charset="0"/>
                <a:ea typeface="Calibri" pitchFamily="34" charset="-122"/>
                <a:cs typeface="Calibri" pitchFamily="34" charset="-120"/>
              </a:rPr>
              <a:t>Un motor, un pipeline, publicación continua</a:t>
            </a:r>
            <a:endParaRPr lang="en-US" sz="3000" dirty="0"/>
          </a:p>
        </p:txBody>
      </p:sp>
      <p:pic>
        <p:nvPicPr>
          <p:cNvPr id="4" name="Image 0" descr="isotipo-green.png">    </p:cNvPr>
          <p:cNvPicPr>
            <a:picLocks noChangeAspect="1"/>
          </p:cNvPicPr>
          <p:nvPr/>
        </p:nvPicPr>
        <p:blipFill>
          <a:blip r:embed="rId1">
            <a:alphaModFix amt="80000"/>
          </a:blip>
          <a:stretch>
            <a:fillRect/>
          </a:stretch>
        </p:blipFill>
        <p:spPr>
          <a:xfrm>
            <a:off x="11228832" y="384048"/>
            <a:ext cx="457200" cy="498348"/>
          </a:xfrm>
          <a:prstGeom prst="rect">
            <a:avLst/>
          </a:prstGeom>
        </p:spPr>
      </p:pic>
      <p:sp>
        <p:nvSpPr>
          <p:cNvPr id="5" name="Shape 2"/>
          <p:cNvSpPr/>
          <p:nvPr/>
        </p:nvSpPr>
        <p:spPr>
          <a:xfrm>
            <a:off x="544068" y="1920240"/>
            <a:ext cx="1956816" cy="1965960"/>
          </a:xfrm>
          <a:prstGeom prst="roundRect">
            <a:avLst>
              <a:gd name="adj" fmla="val 4206"/>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6" name="Shape 3"/>
          <p:cNvSpPr/>
          <p:nvPr/>
        </p:nvSpPr>
        <p:spPr>
          <a:xfrm>
            <a:off x="1248156" y="2121408"/>
            <a:ext cx="548640" cy="548640"/>
          </a:xfrm>
          <a:prstGeom prst="ellipse">
            <a:avLst/>
          </a:prstGeom>
          <a:solidFill>
            <a:srgbClr val="15803D"/>
          </a:solidFill>
          <a:ln/>
        </p:spPr>
      </p:sp>
      <p:pic>
        <p:nvPicPr>
          <p:cNvPr id="7" name="Image 1" descr="ic-map-w.png">    </p:cNvPr>
          <p:cNvPicPr>
            <a:picLocks noChangeAspect="1"/>
          </p:cNvPicPr>
          <p:nvPr/>
        </p:nvPicPr>
        <p:blipFill>
          <a:blip r:embed="rId2"/>
          <a:stretch>
            <a:fillRect/>
          </a:stretch>
        </p:blipFill>
        <p:spPr>
          <a:xfrm>
            <a:off x="1367028" y="2240280"/>
            <a:ext cx="310896" cy="310896"/>
          </a:xfrm>
          <a:prstGeom prst="rect">
            <a:avLst/>
          </a:prstGeom>
        </p:spPr>
      </p:pic>
      <p:sp>
        <p:nvSpPr>
          <p:cNvPr id="8" name="Text 4"/>
          <p:cNvSpPr/>
          <p:nvPr/>
        </p:nvSpPr>
        <p:spPr>
          <a:xfrm>
            <a:off x="635508" y="2743200"/>
            <a:ext cx="1773936" cy="310896"/>
          </a:xfrm>
          <a:prstGeom prst="rect">
            <a:avLst/>
          </a:prstGeom>
          <a:noFill/>
          <a:ln/>
        </p:spPr>
        <p:txBody>
          <a:bodyPr wrap="square" lIns="0" tIns="0" rIns="0" bIns="0" rtlCol="0" anchor="ctr"/>
          <a:lstStyle/>
          <a:p>
            <a:pPr algn="ctr" indent="0" marL="0">
              <a:buNone/>
            </a:pPr>
            <a:r>
              <a:rPr lang="en-US" sz="1350" b="1" dirty="0">
                <a:solidFill>
                  <a:srgbClr val="10261C"/>
                </a:solidFill>
                <a:latin typeface="Calibri" pitchFamily="34" charset="0"/>
                <a:ea typeface="Calibri" pitchFamily="34" charset="-122"/>
                <a:cs typeface="Calibri" pitchFamily="34" charset="-120"/>
              </a:rPr>
              <a:t>API Mapon</a:t>
            </a:r>
            <a:endParaRPr lang="en-US" sz="1350" dirty="0"/>
          </a:p>
        </p:txBody>
      </p:sp>
      <p:sp>
        <p:nvSpPr>
          <p:cNvPr id="9" name="Text 5"/>
          <p:cNvSpPr/>
          <p:nvPr/>
        </p:nvSpPr>
        <p:spPr>
          <a:xfrm>
            <a:off x="672084" y="3072384"/>
            <a:ext cx="1700784" cy="768096"/>
          </a:xfrm>
          <a:prstGeom prst="rect">
            <a:avLst/>
          </a:prstGeom>
          <a:noFill/>
          <a:ln/>
        </p:spPr>
        <p:txBody>
          <a:bodyPr wrap="square" lIns="0" tIns="0" rIns="0" bIns="0" rtlCol="0" anchor="t"/>
          <a:lstStyle/>
          <a:p>
            <a:pPr algn="ctr" indent="0" marL="0">
              <a:buNone/>
            </a:pPr>
            <a:r>
              <a:rPr lang="en-US" sz="1000" dirty="0">
                <a:solidFill>
                  <a:srgbClr val="4C6053"/>
                </a:solidFill>
                <a:latin typeface="Calibri" pitchFamily="34" charset="0"/>
                <a:ea typeface="Calibri" pitchFamily="34" charset="-122"/>
                <a:cs typeface="Calibri" pitchFamily="34" charset="-120"/>
              </a:rPr>
              <a:t>Smart-Connect: unidades, rutas, CAN y alertas de cada flota.</a:t>
            </a:r>
            <a:endParaRPr lang="en-US" sz="1000" dirty="0"/>
          </a:p>
        </p:txBody>
      </p:sp>
      <p:sp>
        <p:nvSpPr>
          <p:cNvPr id="10" name="Shape 6"/>
          <p:cNvSpPr/>
          <p:nvPr/>
        </p:nvSpPr>
        <p:spPr>
          <a:xfrm>
            <a:off x="2546604" y="2903220"/>
            <a:ext cx="237744" cy="0"/>
          </a:xfrm>
          <a:prstGeom prst="line">
            <a:avLst/>
          </a:prstGeom>
          <a:noFill/>
          <a:ln w="28575">
            <a:solidFill>
              <a:srgbClr val="15803D"/>
            </a:solidFill>
            <a:prstDash val="solid"/>
            <a:tailEnd type="triangle"/>
          </a:ln>
        </p:spPr>
      </p:sp>
      <p:sp>
        <p:nvSpPr>
          <p:cNvPr id="11" name="Shape 7"/>
          <p:cNvSpPr/>
          <p:nvPr/>
        </p:nvSpPr>
        <p:spPr>
          <a:xfrm>
            <a:off x="2830068" y="1920240"/>
            <a:ext cx="1956816" cy="1965960"/>
          </a:xfrm>
          <a:prstGeom prst="roundRect">
            <a:avLst>
              <a:gd name="adj" fmla="val 4206"/>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12" name="Shape 8"/>
          <p:cNvSpPr/>
          <p:nvPr/>
        </p:nvSpPr>
        <p:spPr>
          <a:xfrm>
            <a:off x="3534156" y="2121408"/>
            <a:ext cx="548640" cy="548640"/>
          </a:xfrm>
          <a:prstGeom prst="ellipse">
            <a:avLst/>
          </a:prstGeom>
          <a:solidFill>
            <a:srgbClr val="0F5132"/>
          </a:solidFill>
          <a:ln/>
        </p:spPr>
      </p:sp>
      <p:pic>
        <p:nvPicPr>
          <p:cNvPr id="13" name="Image 2" descr="ic-github-w.png">    </p:cNvPr>
          <p:cNvPicPr>
            <a:picLocks noChangeAspect="1"/>
          </p:cNvPicPr>
          <p:nvPr/>
        </p:nvPicPr>
        <p:blipFill>
          <a:blip r:embed="rId3"/>
          <a:stretch>
            <a:fillRect/>
          </a:stretch>
        </p:blipFill>
        <p:spPr>
          <a:xfrm>
            <a:off x="3653028" y="2240280"/>
            <a:ext cx="310896" cy="310896"/>
          </a:xfrm>
          <a:prstGeom prst="rect">
            <a:avLst/>
          </a:prstGeom>
        </p:spPr>
      </p:pic>
      <p:sp>
        <p:nvSpPr>
          <p:cNvPr id="14" name="Text 9"/>
          <p:cNvSpPr/>
          <p:nvPr/>
        </p:nvSpPr>
        <p:spPr>
          <a:xfrm>
            <a:off x="2921508" y="2743200"/>
            <a:ext cx="1773936" cy="310896"/>
          </a:xfrm>
          <a:prstGeom prst="rect">
            <a:avLst/>
          </a:prstGeom>
          <a:noFill/>
          <a:ln/>
        </p:spPr>
        <p:txBody>
          <a:bodyPr wrap="square" lIns="0" tIns="0" rIns="0" bIns="0" rtlCol="0" anchor="ctr"/>
          <a:lstStyle/>
          <a:p>
            <a:pPr algn="ctr" indent="0" marL="0">
              <a:buNone/>
            </a:pPr>
            <a:r>
              <a:rPr lang="en-US" sz="1350" b="1" dirty="0">
                <a:solidFill>
                  <a:srgbClr val="10261C"/>
                </a:solidFill>
                <a:latin typeface="Calibri" pitchFamily="34" charset="0"/>
                <a:ea typeface="Calibri" pitchFamily="34" charset="-122"/>
                <a:cs typeface="Calibri" pitchFamily="34" charset="-120"/>
              </a:rPr>
              <a:t>GitHub Actions</a:t>
            </a:r>
            <a:endParaRPr lang="en-US" sz="1350" dirty="0"/>
          </a:p>
        </p:txBody>
      </p:sp>
      <p:sp>
        <p:nvSpPr>
          <p:cNvPr id="15" name="Text 10"/>
          <p:cNvSpPr/>
          <p:nvPr/>
        </p:nvSpPr>
        <p:spPr>
          <a:xfrm>
            <a:off x="2958084" y="3072384"/>
            <a:ext cx="1700784" cy="768096"/>
          </a:xfrm>
          <a:prstGeom prst="rect">
            <a:avLst/>
          </a:prstGeom>
          <a:noFill/>
          <a:ln/>
        </p:spPr>
        <p:txBody>
          <a:bodyPr wrap="square" lIns="0" tIns="0" rIns="0" bIns="0" rtlCol="0" anchor="t"/>
          <a:lstStyle/>
          <a:p>
            <a:pPr algn="ctr" indent="0" marL="0">
              <a:buNone/>
            </a:pPr>
            <a:r>
              <a:rPr lang="en-US" sz="1000" dirty="0">
                <a:solidFill>
                  <a:srgbClr val="4C6053"/>
                </a:solidFill>
                <a:latin typeface="Calibri" pitchFamily="34" charset="0"/>
                <a:ea typeface="Calibri" pitchFamily="34" charset="-122"/>
                <a:cs typeface="Calibri" pitchFamily="34" charset="-120"/>
              </a:rPr>
              <a:t>Corre build-report.mjs a diario (12:00 UTC) y en cada push.</a:t>
            </a:r>
            <a:endParaRPr lang="en-US" sz="1000" dirty="0"/>
          </a:p>
        </p:txBody>
      </p:sp>
      <p:sp>
        <p:nvSpPr>
          <p:cNvPr id="16" name="Shape 11"/>
          <p:cNvSpPr/>
          <p:nvPr/>
        </p:nvSpPr>
        <p:spPr>
          <a:xfrm>
            <a:off x="4832604" y="2903220"/>
            <a:ext cx="237744" cy="0"/>
          </a:xfrm>
          <a:prstGeom prst="line">
            <a:avLst/>
          </a:prstGeom>
          <a:noFill/>
          <a:ln w="28575">
            <a:solidFill>
              <a:srgbClr val="15803D"/>
            </a:solidFill>
            <a:prstDash val="solid"/>
            <a:tailEnd type="triangle"/>
          </a:ln>
        </p:spPr>
      </p:sp>
      <p:sp>
        <p:nvSpPr>
          <p:cNvPr id="17" name="Shape 12"/>
          <p:cNvSpPr/>
          <p:nvPr/>
        </p:nvSpPr>
        <p:spPr>
          <a:xfrm>
            <a:off x="5116068" y="1920240"/>
            <a:ext cx="1956816" cy="1965960"/>
          </a:xfrm>
          <a:prstGeom prst="roundRect">
            <a:avLst>
              <a:gd name="adj" fmla="val 4206"/>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18" name="Shape 13"/>
          <p:cNvSpPr/>
          <p:nvPr/>
        </p:nvSpPr>
        <p:spPr>
          <a:xfrm>
            <a:off x="5820156" y="2121408"/>
            <a:ext cx="548640" cy="548640"/>
          </a:xfrm>
          <a:prstGeom prst="ellipse">
            <a:avLst/>
          </a:prstGeom>
          <a:solidFill>
            <a:srgbClr val="15803D"/>
          </a:solidFill>
          <a:ln/>
        </p:spPr>
      </p:sp>
      <p:pic>
        <p:nvPicPr>
          <p:cNvPr id="19" name="Image 3" descr="ic-filecode-w.png">    </p:cNvPr>
          <p:cNvPicPr>
            <a:picLocks noChangeAspect="1"/>
          </p:cNvPicPr>
          <p:nvPr/>
        </p:nvPicPr>
        <p:blipFill>
          <a:blip r:embed="rId4"/>
          <a:stretch>
            <a:fillRect/>
          </a:stretch>
        </p:blipFill>
        <p:spPr>
          <a:xfrm>
            <a:off x="5939028" y="2240280"/>
            <a:ext cx="310896" cy="310896"/>
          </a:xfrm>
          <a:prstGeom prst="rect">
            <a:avLst/>
          </a:prstGeom>
        </p:spPr>
      </p:pic>
      <p:sp>
        <p:nvSpPr>
          <p:cNvPr id="20" name="Text 14"/>
          <p:cNvSpPr/>
          <p:nvPr/>
        </p:nvSpPr>
        <p:spPr>
          <a:xfrm>
            <a:off x="5207508" y="2743200"/>
            <a:ext cx="1773936" cy="310896"/>
          </a:xfrm>
          <a:prstGeom prst="rect">
            <a:avLst/>
          </a:prstGeom>
          <a:noFill/>
          <a:ln/>
        </p:spPr>
        <p:txBody>
          <a:bodyPr wrap="square" lIns="0" tIns="0" rIns="0" bIns="0" rtlCol="0" anchor="ctr"/>
          <a:lstStyle/>
          <a:p>
            <a:pPr algn="ctr" indent="0" marL="0">
              <a:buNone/>
            </a:pPr>
            <a:r>
              <a:rPr lang="en-US" sz="1350" b="1" dirty="0">
                <a:solidFill>
                  <a:srgbClr val="10261C"/>
                </a:solidFill>
                <a:latin typeface="Calibri" pitchFamily="34" charset="0"/>
                <a:ea typeface="Calibri" pitchFamily="34" charset="-122"/>
                <a:cs typeface="Calibri" pitchFamily="34" charset="-120"/>
              </a:rPr>
              <a:t>Informe estático</a:t>
            </a:r>
            <a:endParaRPr lang="en-US" sz="1350" dirty="0"/>
          </a:p>
        </p:txBody>
      </p:sp>
      <p:sp>
        <p:nvSpPr>
          <p:cNvPr id="21" name="Text 15"/>
          <p:cNvSpPr/>
          <p:nvPr/>
        </p:nvSpPr>
        <p:spPr>
          <a:xfrm>
            <a:off x="5244084" y="3072384"/>
            <a:ext cx="1700784" cy="768096"/>
          </a:xfrm>
          <a:prstGeom prst="rect">
            <a:avLst/>
          </a:prstGeom>
          <a:noFill/>
          <a:ln/>
        </p:spPr>
        <p:txBody>
          <a:bodyPr wrap="square" lIns="0" tIns="0" rIns="0" bIns="0" rtlCol="0" anchor="t"/>
          <a:lstStyle/>
          <a:p>
            <a:pPr algn="ctr" indent="0" marL="0">
              <a:buNone/>
            </a:pPr>
            <a:r>
              <a:rPr lang="en-US" sz="1000" dirty="0">
                <a:solidFill>
                  <a:srgbClr val="4C6053"/>
                </a:solidFill>
                <a:latin typeface="Calibri" pitchFamily="34" charset="0"/>
                <a:ea typeface="Calibri" pitchFamily="34" charset="-122"/>
                <a:cs typeface="Calibri" pitchFamily="34" charset="-120"/>
              </a:rPr>
              <a:t>clientes/&lt;cliente&gt;/index.html con identidad Advance.</a:t>
            </a:r>
            <a:endParaRPr lang="en-US" sz="1000" dirty="0"/>
          </a:p>
        </p:txBody>
      </p:sp>
      <p:sp>
        <p:nvSpPr>
          <p:cNvPr id="22" name="Shape 16"/>
          <p:cNvSpPr/>
          <p:nvPr/>
        </p:nvSpPr>
        <p:spPr>
          <a:xfrm>
            <a:off x="7118604" y="2903220"/>
            <a:ext cx="237744" cy="0"/>
          </a:xfrm>
          <a:prstGeom prst="line">
            <a:avLst/>
          </a:prstGeom>
          <a:noFill/>
          <a:ln w="28575">
            <a:solidFill>
              <a:srgbClr val="15803D"/>
            </a:solidFill>
            <a:prstDash val="solid"/>
            <a:tailEnd type="triangle"/>
          </a:ln>
        </p:spPr>
      </p:sp>
      <p:sp>
        <p:nvSpPr>
          <p:cNvPr id="23" name="Shape 17"/>
          <p:cNvSpPr/>
          <p:nvPr/>
        </p:nvSpPr>
        <p:spPr>
          <a:xfrm>
            <a:off x="7402068" y="1920240"/>
            <a:ext cx="1956816" cy="1965960"/>
          </a:xfrm>
          <a:prstGeom prst="roundRect">
            <a:avLst>
              <a:gd name="adj" fmla="val 4206"/>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24" name="Shape 18"/>
          <p:cNvSpPr/>
          <p:nvPr/>
        </p:nvSpPr>
        <p:spPr>
          <a:xfrm>
            <a:off x="8106156" y="2121408"/>
            <a:ext cx="548640" cy="548640"/>
          </a:xfrm>
          <a:prstGeom prst="ellipse">
            <a:avLst/>
          </a:prstGeom>
          <a:solidFill>
            <a:srgbClr val="0D9488"/>
          </a:solidFill>
          <a:ln/>
        </p:spPr>
      </p:sp>
      <p:pic>
        <p:nvPicPr>
          <p:cNvPr id="25" name="Image 4" descr="ic-cloud-w.png">    </p:cNvPr>
          <p:cNvPicPr>
            <a:picLocks noChangeAspect="1"/>
          </p:cNvPicPr>
          <p:nvPr/>
        </p:nvPicPr>
        <p:blipFill>
          <a:blip r:embed="rId5"/>
          <a:stretch>
            <a:fillRect/>
          </a:stretch>
        </p:blipFill>
        <p:spPr>
          <a:xfrm>
            <a:off x="8225028" y="2240280"/>
            <a:ext cx="310896" cy="310896"/>
          </a:xfrm>
          <a:prstGeom prst="rect">
            <a:avLst/>
          </a:prstGeom>
        </p:spPr>
      </p:pic>
      <p:sp>
        <p:nvSpPr>
          <p:cNvPr id="26" name="Text 19"/>
          <p:cNvSpPr/>
          <p:nvPr/>
        </p:nvSpPr>
        <p:spPr>
          <a:xfrm>
            <a:off x="7493508" y="2743200"/>
            <a:ext cx="1773936" cy="310896"/>
          </a:xfrm>
          <a:prstGeom prst="rect">
            <a:avLst/>
          </a:prstGeom>
          <a:noFill/>
          <a:ln/>
        </p:spPr>
        <p:txBody>
          <a:bodyPr wrap="square" lIns="0" tIns="0" rIns="0" bIns="0" rtlCol="0" anchor="ctr"/>
          <a:lstStyle/>
          <a:p>
            <a:pPr algn="ctr" indent="0" marL="0">
              <a:buNone/>
            </a:pPr>
            <a:r>
              <a:rPr lang="en-US" sz="1350" b="1" dirty="0">
                <a:solidFill>
                  <a:srgbClr val="10261C"/>
                </a:solidFill>
                <a:latin typeface="Calibri" pitchFamily="34" charset="0"/>
                <a:ea typeface="Calibri" pitchFamily="34" charset="-122"/>
                <a:cs typeface="Calibri" pitchFamily="34" charset="-120"/>
              </a:rPr>
              <a:t>Netlify (CDN)</a:t>
            </a:r>
            <a:endParaRPr lang="en-US" sz="1350" dirty="0"/>
          </a:p>
        </p:txBody>
      </p:sp>
      <p:sp>
        <p:nvSpPr>
          <p:cNvPr id="27" name="Text 20"/>
          <p:cNvSpPr/>
          <p:nvPr/>
        </p:nvSpPr>
        <p:spPr>
          <a:xfrm>
            <a:off x="7530084" y="3072384"/>
            <a:ext cx="1700784" cy="768096"/>
          </a:xfrm>
          <a:prstGeom prst="rect">
            <a:avLst/>
          </a:prstGeom>
          <a:noFill/>
          <a:ln/>
        </p:spPr>
        <p:txBody>
          <a:bodyPr wrap="square" lIns="0" tIns="0" rIns="0" bIns="0" rtlCol="0" anchor="t"/>
          <a:lstStyle/>
          <a:p>
            <a:pPr algn="ctr" indent="0" marL="0">
              <a:buNone/>
            </a:pPr>
            <a:r>
              <a:rPr lang="en-US" sz="1000" dirty="0">
                <a:solidFill>
                  <a:srgbClr val="4C6053"/>
                </a:solidFill>
                <a:latin typeface="Calibri" pitchFamily="34" charset="0"/>
                <a:ea typeface="Calibri" pitchFamily="34" charset="-122"/>
                <a:cs typeface="Calibri" pitchFamily="34" charset="-120"/>
              </a:rPr>
              <a:t>Cada push del bot redespliega el sitio automáticamente.</a:t>
            </a:r>
            <a:endParaRPr lang="en-US" sz="1000" dirty="0"/>
          </a:p>
        </p:txBody>
      </p:sp>
      <p:sp>
        <p:nvSpPr>
          <p:cNvPr id="28" name="Shape 21"/>
          <p:cNvSpPr/>
          <p:nvPr/>
        </p:nvSpPr>
        <p:spPr>
          <a:xfrm>
            <a:off x="9404604" y="2903220"/>
            <a:ext cx="237744" cy="0"/>
          </a:xfrm>
          <a:prstGeom prst="line">
            <a:avLst/>
          </a:prstGeom>
          <a:noFill/>
          <a:ln w="28575">
            <a:solidFill>
              <a:srgbClr val="15803D"/>
            </a:solidFill>
            <a:prstDash val="solid"/>
            <a:tailEnd type="triangle"/>
          </a:ln>
        </p:spPr>
      </p:sp>
      <p:sp>
        <p:nvSpPr>
          <p:cNvPr id="29" name="Shape 22"/>
          <p:cNvSpPr/>
          <p:nvPr/>
        </p:nvSpPr>
        <p:spPr>
          <a:xfrm>
            <a:off x="9688068" y="1920240"/>
            <a:ext cx="1956816" cy="1965960"/>
          </a:xfrm>
          <a:prstGeom prst="roundRect">
            <a:avLst>
              <a:gd name="adj" fmla="val 4206"/>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30" name="Shape 23"/>
          <p:cNvSpPr/>
          <p:nvPr/>
        </p:nvSpPr>
        <p:spPr>
          <a:xfrm>
            <a:off x="10392156" y="2121408"/>
            <a:ext cx="548640" cy="548640"/>
          </a:xfrm>
          <a:prstGeom prst="ellipse">
            <a:avLst/>
          </a:prstGeom>
          <a:solidFill>
            <a:srgbClr val="0F5132"/>
          </a:solidFill>
          <a:ln/>
        </p:spPr>
      </p:sp>
      <p:pic>
        <p:nvPicPr>
          <p:cNvPr id="31" name="Image 5" descr="ic-tablet-w.png">    </p:cNvPr>
          <p:cNvPicPr>
            <a:picLocks noChangeAspect="1"/>
          </p:cNvPicPr>
          <p:nvPr/>
        </p:nvPicPr>
        <p:blipFill>
          <a:blip r:embed="rId6"/>
          <a:stretch>
            <a:fillRect/>
          </a:stretch>
        </p:blipFill>
        <p:spPr>
          <a:xfrm>
            <a:off x="10511028" y="2240280"/>
            <a:ext cx="310896" cy="310896"/>
          </a:xfrm>
          <a:prstGeom prst="rect">
            <a:avLst/>
          </a:prstGeom>
        </p:spPr>
      </p:pic>
      <p:sp>
        <p:nvSpPr>
          <p:cNvPr id="32" name="Text 24"/>
          <p:cNvSpPr/>
          <p:nvPr/>
        </p:nvSpPr>
        <p:spPr>
          <a:xfrm>
            <a:off x="9779508" y="2743200"/>
            <a:ext cx="1773936" cy="310896"/>
          </a:xfrm>
          <a:prstGeom prst="rect">
            <a:avLst/>
          </a:prstGeom>
          <a:noFill/>
          <a:ln/>
        </p:spPr>
        <p:txBody>
          <a:bodyPr wrap="square" lIns="0" tIns="0" rIns="0" bIns="0" rtlCol="0" anchor="ctr"/>
          <a:lstStyle/>
          <a:p>
            <a:pPr algn="ctr" indent="0" marL="0">
              <a:buNone/>
            </a:pPr>
            <a:r>
              <a:rPr lang="en-US" sz="1350" b="1" dirty="0">
                <a:solidFill>
                  <a:srgbClr val="10261C"/>
                </a:solidFill>
                <a:latin typeface="Calibri" pitchFamily="34" charset="0"/>
                <a:ea typeface="Calibri" pitchFamily="34" charset="-122"/>
                <a:cs typeface="Calibri" pitchFamily="34" charset="-120"/>
              </a:rPr>
              <a:t>Liga del cliente</a:t>
            </a:r>
            <a:endParaRPr lang="en-US" sz="1350" dirty="0"/>
          </a:p>
        </p:txBody>
      </p:sp>
      <p:sp>
        <p:nvSpPr>
          <p:cNvPr id="33" name="Text 25"/>
          <p:cNvSpPr/>
          <p:nvPr/>
        </p:nvSpPr>
        <p:spPr>
          <a:xfrm>
            <a:off x="9816084" y="3072384"/>
            <a:ext cx="1700784" cy="768096"/>
          </a:xfrm>
          <a:prstGeom prst="rect">
            <a:avLst/>
          </a:prstGeom>
          <a:noFill/>
          <a:ln/>
        </p:spPr>
        <p:txBody>
          <a:bodyPr wrap="square" lIns="0" tIns="0" rIns="0" bIns="0" rtlCol="0" anchor="t"/>
          <a:lstStyle/>
          <a:p>
            <a:pPr algn="ctr" indent="0" marL="0">
              <a:buNone/>
            </a:pPr>
            <a:r>
              <a:rPr lang="en-US" sz="1000" dirty="0">
                <a:solidFill>
                  <a:srgbClr val="4C6053"/>
                </a:solidFill>
                <a:latin typeface="Calibri" pitchFamily="34" charset="0"/>
                <a:ea typeface="Calibri" pitchFamily="34" charset="-122"/>
                <a:cs typeface="Calibri" pitchFamily="34" charset="-120"/>
              </a:rPr>
              <a:t>Abre en iPad, móvil o PC. Con PDF descargable.</a:t>
            </a:r>
            <a:endParaRPr lang="en-US" sz="1000" dirty="0"/>
          </a:p>
        </p:txBody>
      </p:sp>
      <p:sp>
        <p:nvSpPr>
          <p:cNvPr id="34" name="Shape 26"/>
          <p:cNvSpPr/>
          <p:nvPr/>
        </p:nvSpPr>
        <p:spPr>
          <a:xfrm>
            <a:off x="699516" y="4434840"/>
            <a:ext cx="3383280" cy="475488"/>
          </a:xfrm>
          <a:prstGeom prst="roundRect">
            <a:avLst>
              <a:gd name="adj" fmla="val 50000"/>
            </a:avLst>
          </a:prstGeom>
          <a:solidFill>
            <a:srgbClr val="0F5132"/>
          </a:solidFill>
          <a:ln/>
        </p:spPr>
      </p:sp>
      <p:sp>
        <p:nvSpPr>
          <p:cNvPr id="35" name="Text 27"/>
          <p:cNvSpPr/>
          <p:nvPr/>
        </p:nvSpPr>
        <p:spPr>
          <a:xfrm>
            <a:off x="699516" y="4434840"/>
            <a:ext cx="338328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Un solo motor data-driven (index.html)</a:t>
            </a:r>
            <a:endParaRPr lang="en-US" sz="1250" dirty="0"/>
          </a:p>
        </p:txBody>
      </p:sp>
      <p:sp>
        <p:nvSpPr>
          <p:cNvPr id="36" name="Shape 28"/>
          <p:cNvSpPr/>
          <p:nvPr/>
        </p:nvSpPr>
        <p:spPr>
          <a:xfrm>
            <a:off x="4402836" y="4434840"/>
            <a:ext cx="3383280" cy="475488"/>
          </a:xfrm>
          <a:prstGeom prst="roundRect">
            <a:avLst>
              <a:gd name="adj" fmla="val 50000"/>
            </a:avLst>
          </a:prstGeom>
          <a:solidFill>
            <a:srgbClr val="0F5132"/>
          </a:solidFill>
          <a:ln/>
        </p:spPr>
      </p:sp>
      <p:sp>
        <p:nvSpPr>
          <p:cNvPr id="37" name="Text 29"/>
          <p:cNvSpPr/>
          <p:nvPr/>
        </p:nvSpPr>
        <p:spPr>
          <a:xfrm>
            <a:off x="4402836" y="4434840"/>
            <a:ext cx="338328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Automatización sin servidores</a:t>
            </a:r>
            <a:endParaRPr lang="en-US" sz="1250" dirty="0"/>
          </a:p>
        </p:txBody>
      </p:sp>
      <p:sp>
        <p:nvSpPr>
          <p:cNvPr id="38" name="Shape 30"/>
          <p:cNvSpPr/>
          <p:nvPr/>
        </p:nvSpPr>
        <p:spPr>
          <a:xfrm>
            <a:off x="8106156" y="4434840"/>
            <a:ext cx="3383280" cy="475488"/>
          </a:xfrm>
          <a:prstGeom prst="roundRect">
            <a:avLst>
              <a:gd name="adj" fmla="val 50000"/>
            </a:avLst>
          </a:prstGeom>
          <a:solidFill>
            <a:srgbClr val="0F5132"/>
          </a:solidFill>
          <a:ln/>
        </p:spPr>
      </p:sp>
      <p:sp>
        <p:nvSpPr>
          <p:cNvPr id="39" name="Text 31"/>
          <p:cNvSpPr/>
          <p:nvPr/>
        </p:nvSpPr>
        <p:spPr>
          <a:xfrm>
            <a:off x="8106156" y="4434840"/>
            <a:ext cx="338328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HTML estático publicado en CDN</a:t>
            </a:r>
            <a:endParaRPr lang="en-US" sz="1250" dirty="0"/>
          </a:p>
        </p:txBody>
      </p:sp>
      <p:sp>
        <p:nvSpPr>
          <p:cNvPr id="40" name="Text 32"/>
          <p:cNvSpPr/>
          <p:nvPr/>
        </p:nvSpPr>
        <p:spPr>
          <a:xfrm>
            <a:off x="1097280" y="5257800"/>
            <a:ext cx="9966960" cy="685800"/>
          </a:xfrm>
          <a:prstGeom prst="rect">
            <a:avLst/>
          </a:prstGeom>
          <a:noFill/>
          <a:ln/>
        </p:spPr>
        <p:txBody>
          <a:bodyPr wrap="square" lIns="0" tIns="0" rIns="0" bIns="0" rtlCol="0" anchor="ctr"/>
          <a:lstStyle/>
          <a:p>
            <a:pPr algn="ctr" indent="0" marL="0">
              <a:lnSpc>
                <a:spcPts val="1900"/>
              </a:lnSpc>
              <a:buNone/>
            </a:pPr>
            <a:r>
              <a:rPr lang="en-US" sz="1400" b="1" dirty="0">
                <a:solidFill>
                  <a:srgbClr val="10261C"/>
                </a:solidFill>
                <a:latin typeface="Calibri" pitchFamily="34" charset="0"/>
                <a:ea typeface="Calibri" pitchFamily="34" charset="-122"/>
                <a:cs typeface="Calibri" pitchFamily="34" charset="-120"/>
              </a:rPr>
              <a:t>La plantilla es el análisis; los datos son del cliente. </a:t>
            </a:r>
            <a:pPr algn="ctr" indent="0" marL="0">
              <a:lnSpc>
                <a:spcPts val="1900"/>
              </a:lnSpc>
              <a:buNone/>
            </a:pPr>
            <a:r>
              <a:rPr lang="en-US" sz="1400" dirty="0">
                <a:solidFill>
                  <a:srgbClr val="4C6053"/>
                </a:solidFill>
                <a:latin typeface="Calibri" pitchFamily="34" charset="0"/>
                <a:ea typeface="Calibri" pitchFamily="34" charset="-122"/>
                <a:cs typeface="Calibri" pitchFamily="34" charset="-120"/>
              </a:rPr>
              <a:t>El pipeline inyecta los datos reales de cada flota en el mismo motor y publica un informe por cliente — una carpeta, una liga.</a:t>
            </a:r>
            <a:endParaRPr lang="en-US" sz="1400" dirty="0"/>
          </a:p>
        </p:txBody>
      </p:sp>
      <p:sp>
        <p:nvSpPr>
          <p:cNvPr id="41" name="Text 33"/>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5A08F"/>
                </a:solidFill>
                <a:latin typeface="Calibri" pitchFamily="34" charset="0"/>
                <a:ea typeface="Calibri" pitchFamily="34" charset="-122"/>
                <a:cs typeface="Calibri" pitchFamily="34" charset="-120"/>
              </a:rPr>
              <a:t>Advance · Justificación técnica de la plataforma de informes</a:t>
            </a:r>
            <a:endParaRPr lang="en-US" sz="900" dirty="0"/>
          </a:p>
        </p:txBody>
      </p:sp>
      <p:sp>
        <p:nvSpPr>
          <p:cNvPr id="42" name="Text 34"/>
          <p:cNvSpPr/>
          <p:nvPr/>
        </p:nvSpPr>
        <p:spPr>
          <a:xfrm>
            <a:off x="11365992" y="6510528"/>
            <a:ext cx="365760" cy="274320"/>
          </a:xfrm>
          <a:prstGeom prst="rect">
            <a:avLst/>
          </a:prstGeom>
          <a:noFill/>
          <a:ln/>
        </p:spPr>
        <p:txBody>
          <a:bodyPr wrap="square" lIns="0" tIns="0" rIns="0" bIns="0" rtlCol="0" anchor="ctr"/>
          <a:lstStyle/>
          <a:p>
            <a:pPr algn="r" indent="0" marL="0">
              <a:buNone/>
            </a:pPr>
            <a:r>
              <a:rPr lang="en-US" sz="900" dirty="0">
                <a:solidFill>
                  <a:srgbClr val="85A08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515600" cy="292608"/>
          </a:xfrm>
          <a:prstGeom prst="rect">
            <a:avLst/>
          </a:prstGeom>
          <a:noFill/>
          <a:ln/>
        </p:spPr>
        <p:txBody>
          <a:bodyPr wrap="square" lIns="0" tIns="0" rIns="0" bIns="0" rtlCol="0" anchor="ctr"/>
          <a:lstStyle/>
          <a:p>
            <a:pPr indent="0" marL="0">
              <a:buNone/>
            </a:pPr>
            <a:r>
              <a:rPr lang="en-US" sz="1200" b="1" spc="200" kern="0" dirty="0">
                <a:solidFill>
                  <a:srgbClr val="15803D"/>
                </a:solidFill>
                <a:latin typeface="Calibri" pitchFamily="34" charset="0"/>
                <a:ea typeface="Calibri" pitchFamily="34" charset="-122"/>
                <a:cs typeface="Calibri" pitchFamily="34" charset="-120"/>
              </a:rPr>
              <a:t>PRINCIPIO 1</a:t>
            </a:r>
            <a:endParaRPr lang="en-US" sz="1200" dirty="0"/>
          </a:p>
        </p:txBody>
      </p:sp>
      <p:sp>
        <p:nvSpPr>
          <p:cNvPr id="3" name="Text 1"/>
          <p:cNvSpPr/>
          <p:nvPr/>
        </p:nvSpPr>
        <p:spPr>
          <a:xfrm>
            <a:off x="502920" y="658368"/>
            <a:ext cx="10424160" cy="658368"/>
          </a:xfrm>
          <a:prstGeom prst="rect">
            <a:avLst/>
          </a:prstGeom>
          <a:noFill/>
          <a:ln/>
        </p:spPr>
        <p:txBody>
          <a:bodyPr wrap="square" lIns="0" tIns="0" rIns="0" bIns="0" rtlCol="0" anchor="ctr"/>
          <a:lstStyle/>
          <a:p>
            <a:pPr indent="0" marL="0">
              <a:buNone/>
            </a:pPr>
            <a:r>
              <a:rPr lang="en-US" sz="3000" b="1" dirty="0">
                <a:solidFill>
                  <a:srgbClr val="10261C"/>
                </a:solidFill>
                <a:latin typeface="Calibri" pitchFamily="34" charset="0"/>
                <a:ea typeface="Calibri" pitchFamily="34" charset="-122"/>
                <a:cs typeface="Calibri" pitchFamily="34" charset="-120"/>
              </a:rPr>
              <a:t>Un motor, N clientes</a:t>
            </a:r>
            <a:endParaRPr lang="en-US" sz="3000" dirty="0"/>
          </a:p>
        </p:txBody>
      </p:sp>
      <p:pic>
        <p:nvPicPr>
          <p:cNvPr id="4" name="Image 0" descr="isotipo-green.png">    </p:cNvPr>
          <p:cNvPicPr>
            <a:picLocks noChangeAspect="1"/>
          </p:cNvPicPr>
          <p:nvPr/>
        </p:nvPicPr>
        <p:blipFill>
          <a:blip r:embed="rId1">
            <a:alphaModFix amt="80000"/>
          </a:blip>
          <a:stretch>
            <a:fillRect/>
          </a:stretch>
        </p:blipFill>
        <p:spPr>
          <a:xfrm>
            <a:off x="11228832" y="384048"/>
            <a:ext cx="457200" cy="498348"/>
          </a:xfrm>
          <a:prstGeom prst="rect">
            <a:avLst/>
          </a:prstGeom>
        </p:spPr>
      </p:pic>
      <p:sp>
        <p:nvSpPr>
          <p:cNvPr id="5" name="Text 2"/>
          <p:cNvSpPr/>
          <p:nvPr/>
        </p:nvSpPr>
        <p:spPr>
          <a:xfrm>
            <a:off x="502920" y="1600200"/>
            <a:ext cx="5120640" cy="1371600"/>
          </a:xfrm>
          <a:prstGeom prst="rect">
            <a:avLst/>
          </a:prstGeom>
          <a:noFill/>
          <a:ln/>
        </p:spPr>
        <p:txBody>
          <a:bodyPr wrap="square" lIns="0" tIns="0" rIns="0" bIns="0" rtlCol="0" anchor="ctr"/>
          <a:lstStyle/>
          <a:p>
            <a:pPr indent="0" marL="0">
              <a:lnSpc>
                <a:spcPts val="1800"/>
              </a:lnSpc>
              <a:buNone/>
            </a:pPr>
            <a:r>
              <a:rPr lang="en-US" sz="1500" b="1" dirty="0">
                <a:solidFill>
                  <a:srgbClr val="10261C"/>
                </a:solidFill>
                <a:latin typeface="Calibri" pitchFamily="34" charset="0"/>
                <a:ea typeface="Calibri" pitchFamily="34" charset="-122"/>
                <a:cs typeface="Calibri" pitchFamily="34" charset="-120"/>
              </a:rPr>
              <a:t>index.html es el análisis completo</a:t>
            </a:r>
            <a:pPr indent="0" marL="0">
              <a:lnSpc>
                <a:spcPts val="1800"/>
              </a:lnSpc>
              <a:buNone/>
            </a:pPr>
            <a:r>
              <a:rPr lang="en-US" sz="1300" dirty="0">
                <a:solidFill>
                  <a:srgbClr val="4C6053"/>
                </a:solidFill>
                <a:latin typeface="Calibri" pitchFamily="34" charset="0"/>
                <a:ea typeface="Calibri" pitchFamily="34" charset="-122"/>
                <a:cs typeface="Calibri" pitchFamily="34" charset="-120"/>
              </a:rPr>
              <a:t> — resumen ejecutivo, rendimiento real vs. fabricante, seguridad vial, tablero de unidades, combustible, bono al operador y monetización del ahorro.</a:t>
            </a:r>
            <a:endParaRPr lang="en-US" sz="1500" dirty="0"/>
          </a:p>
        </p:txBody>
      </p:sp>
      <p:sp>
        <p:nvSpPr>
          <p:cNvPr id="6" name="Text 3"/>
          <p:cNvSpPr/>
          <p:nvPr/>
        </p:nvSpPr>
        <p:spPr>
          <a:xfrm>
            <a:off x="502920" y="3017520"/>
            <a:ext cx="5120640" cy="219456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4C6053"/>
                </a:solidFill>
                <a:latin typeface="Calibri" pitchFamily="34" charset="0"/>
                <a:ea typeface="Calibri" pitchFamily="34" charset="-122"/>
                <a:cs typeface="Calibri" pitchFamily="34" charset="-120"/>
              </a:rPr>
              <a:t>El pipeline inyecta los datos de cada flota y escribe clientes/&lt;cliente&gt;/index.html.</a:t>
            </a:r>
            <a:endParaRPr lang="en-US" sz="1250" dirty="0"/>
          </a:p>
          <a:p>
            <a:pPr marL="342900" indent="-342900">
              <a:spcAft>
                <a:spcPts val="800"/>
              </a:spcAft>
              <a:buSzPct val="100000"/>
              <a:buChar char="•"/>
            </a:pPr>
            <a:r>
              <a:rPr lang="en-US" sz="1250" dirty="0">
                <a:solidFill>
                  <a:srgbClr val="4C6053"/>
                </a:solidFill>
                <a:latin typeface="Calibri" pitchFamily="34" charset="0"/>
                <a:ea typeface="Calibri" pitchFamily="34" charset="-122"/>
                <a:cs typeface="Calibri" pitchFamily="34" charset="-120"/>
              </a:rPr>
              <a:t>Mejorar el motor una vez = todos los clientes reciben la mejora al día siguiente.</a:t>
            </a:r>
            <a:endParaRPr lang="en-US" sz="1250" dirty="0"/>
          </a:p>
          <a:p>
            <a:pPr marL="342900" indent="-342900">
              <a:spcAft>
                <a:spcPts val="800"/>
              </a:spcAft>
              <a:buSzPct val="100000"/>
              <a:buChar char="•"/>
            </a:pPr>
            <a:r>
              <a:rPr lang="en-US" sz="1250" dirty="0">
                <a:solidFill>
                  <a:srgbClr val="4C6053"/>
                </a:solidFill>
                <a:latin typeface="Calibri" pitchFamily="34" charset="0"/>
                <a:ea typeface="Calibri" pitchFamily="34" charset="-122"/>
                <a:cs typeface="Calibri" pitchFamily="34" charset="-120"/>
              </a:rPr>
              <a:t>clientes.json afina nombre, benchmarks de fábrica (km/L) y tanques — sin tocar código.</a:t>
            </a:r>
            <a:endParaRPr lang="en-US" sz="1250" dirty="0"/>
          </a:p>
          <a:p>
            <a:pPr marL="342900" indent="-342900">
              <a:spcAft>
                <a:spcPts val="800"/>
              </a:spcAft>
              <a:buSzPct val="100000"/>
              <a:buChar char="•"/>
            </a:pPr>
            <a:r>
              <a:rPr lang="en-US" sz="1250" dirty="0">
                <a:solidFill>
                  <a:srgbClr val="4C6053"/>
                </a:solidFill>
                <a:latin typeface="Calibri" pitchFamily="34" charset="0"/>
                <a:ea typeface="Calibri" pitchFamily="34" charset="-122"/>
                <a:cs typeface="Calibri" pitchFamily="34" charset="-120"/>
              </a:rPr>
              <a:t>Si un cliente no tiene configuración, el informe corre igual con valores por defecto.</a:t>
            </a:r>
            <a:endParaRPr lang="en-US" sz="1250" dirty="0"/>
          </a:p>
        </p:txBody>
      </p:sp>
      <p:sp>
        <p:nvSpPr>
          <p:cNvPr id="7" name="Shape 4"/>
          <p:cNvSpPr/>
          <p:nvPr/>
        </p:nvSpPr>
        <p:spPr>
          <a:xfrm>
            <a:off x="502920" y="5349240"/>
            <a:ext cx="5120640" cy="868680"/>
          </a:xfrm>
          <a:prstGeom prst="roundRect">
            <a:avLst>
              <a:gd name="adj" fmla="val 9474"/>
            </a:avLst>
          </a:prstGeom>
          <a:solidFill>
            <a:srgbClr val="0F5132"/>
          </a:solidFill>
          <a:ln/>
          <a:effectLst>
            <a:outerShdw sx="100000" sy="100000" kx="0" ky="0" algn="bl" rotWithShape="0" blurRad="127000" dist="38100" dir="5400000">
              <a:srgbClr val="104626">
                <a:alpha val="18000"/>
              </a:srgbClr>
            </a:outerShdw>
          </a:effectLst>
        </p:spPr>
      </p:sp>
      <p:sp>
        <p:nvSpPr>
          <p:cNvPr id="8" name="Text 5"/>
          <p:cNvSpPr/>
          <p:nvPr/>
        </p:nvSpPr>
        <p:spPr>
          <a:xfrm>
            <a:off x="731520" y="5349240"/>
            <a:ext cx="4754880" cy="868680"/>
          </a:xfrm>
          <a:prstGeom prst="rect">
            <a:avLst/>
          </a:prstGeom>
          <a:noFill/>
          <a:ln/>
        </p:spPr>
        <p:txBody>
          <a:bodyPr wrap="square" lIns="0" tIns="0" rIns="0" bIns="0" rtlCol="0" anchor="ctr"/>
          <a:lstStyle/>
          <a:p>
            <a:pPr indent="0" marL="0">
              <a:buNone/>
            </a:pPr>
            <a:r>
              <a:rPr lang="en-US" sz="2000" b="1" dirty="0">
                <a:solidFill>
                  <a:srgbClr val="6EE7B7"/>
                </a:solidFill>
                <a:latin typeface="Calibri" pitchFamily="34" charset="0"/>
                <a:ea typeface="Calibri" pitchFamily="34" charset="-122"/>
                <a:cs typeface="Calibri" pitchFamily="34" charset="-120"/>
              </a:rPr>
              <a:t>0 líneas de código </a:t>
            </a:r>
            <a:pPr indent="0" marL="0">
              <a:buNone/>
            </a:pPr>
            <a:r>
              <a:rPr lang="en-US" sz="1400" dirty="0">
                <a:solidFill>
                  <a:srgbClr val="FFFFFF"/>
                </a:solidFill>
                <a:latin typeface="Calibri" pitchFamily="34" charset="0"/>
                <a:ea typeface="Calibri" pitchFamily="34" charset="-122"/>
                <a:cs typeface="Calibri" pitchFamily="34" charset="-120"/>
              </a:rPr>
              <a:t>para dar de alta un cliente nuevo</a:t>
            </a:r>
            <a:endParaRPr lang="en-US" sz="2000" dirty="0"/>
          </a:p>
        </p:txBody>
      </p:sp>
      <p:sp>
        <p:nvSpPr>
          <p:cNvPr id="9" name="Shape 6"/>
          <p:cNvSpPr/>
          <p:nvPr/>
        </p:nvSpPr>
        <p:spPr>
          <a:xfrm>
            <a:off x="6126480" y="2286000"/>
            <a:ext cx="1920240" cy="2103120"/>
          </a:xfrm>
          <a:prstGeom prst="roundRect">
            <a:avLst>
              <a:gd name="adj" fmla="val 4286"/>
            </a:avLst>
          </a:prstGeom>
          <a:solidFill>
            <a:srgbClr val="0F5132"/>
          </a:solidFill>
          <a:ln/>
          <a:effectLst>
            <a:outerShdw sx="100000" sy="100000" kx="0" ky="0" algn="bl" rotWithShape="0" blurRad="127000" dist="38100" dir="5400000">
              <a:srgbClr val="104626">
                <a:alpha val="18000"/>
              </a:srgbClr>
            </a:outerShdw>
          </a:effectLst>
        </p:spPr>
      </p:sp>
      <p:sp>
        <p:nvSpPr>
          <p:cNvPr id="10" name="Shape 7"/>
          <p:cNvSpPr/>
          <p:nvPr/>
        </p:nvSpPr>
        <p:spPr>
          <a:xfrm>
            <a:off x="6803136" y="2514600"/>
            <a:ext cx="566928" cy="566928"/>
          </a:xfrm>
          <a:prstGeom prst="ellipse">
            <a:avLst/>
          </a:prstGeom>
          <a:solidFill>
            <a:srgbClr val="16A34A"/>
          </a:solidFill>
          <a:ln/>
        </p:spPr>
      </p:sp>
      <p:pic>
        <p:nvPicPr>
          <p:cNvPr id="11" name="Image 1" descr="ic-cogs-w.png">    </p:cNvPr>
          <p:cNvPicPr>
            <a:picLocks noChangeAspect="1"/>
          </p:cNvPicPr>
          <p:nvPr/>
        </p:nvPicPr>
        <p:blipFill>
          <a:blip r:embed="rId2"/>
          <a:stretch>
            <a:fillRect/>
          </a:stretch>
        </p:blipFill>
        <p:spPr>
          <a:xfrm>
            <a:off x="6922008" y="2633472"/>
            <a:ext cx="329184" cy="329184"/>
          </a:xfrm>
          <a:prstGeom prst="rect">
            <a:avLst/>
          </a:prstGeom>
        </p:spPr>
      </p:pic>
      <p:sp>
        <p:nvSpPr>
          <p:cNvPr id="12" name="Text 8"/>
          <p:cNvSpPr/>
          <p:nvPr/>
        </p:nvSpPr>
        <p:spPr>
          <a:xfrm>
            <a:off x="6126480" y="3182112"/>
            <a:ext cx="1920240" cy="274320"/>
          </a:xfrm>
          <a:prstGeom prst="rect">
            <a:avLst/>
          </a:prstGeom>
          <a:noFill/>
          <a:ln/>
        </p:spPr>
        <p:txBody>
          <a:bodyPr wrap="square" lIns="0" tIns="0" rIns="0" bIns="0" rtlCol="0" anchor="ctr"/>
          <a:lstStyle/>
          <a:p>
            <a:pPr algn="ctr" indent="0" marL="0">
              <a:buNone/>
            </a:pPr>
            <a:r>
              <a:rPr lang="en-US" sz="1200" b="1" spc="200" kern="0" dirty="0">
                <a:solidFill>
                  <a:srgbClr val="6EE7B7"/>
                </a:solidFill>
                <a:latin typeface="Calibri" pitchFamily="34" charset="0"/>
                <a:ea typeface="Calibri" pitchFamily="34" charset="-122"/>
                <a:cs typeface="Calibri" pitchFamily="34" charset="-120"/>
              </a:rPr>
              <a:t>EL MOTOR</a:t>
            </a:r>
            <a:endParaRPr lang="en-US" sz="1200" dirty="0"/>
          </a:p>
        </p:txBody>
      </p:sp>
      <p:sp>
        <p:nvSpPr>
          <p:cNvPr id="13" name="Text 9"/>
          <p:cNvSpPr/>
          <p:nvPr/>
        </p:nvSpPr>
        <p:spPr>
          <a:xfrm>
            <a:off x="6126480" y="3474720"/>
            <a:ext cx="1920240" cy="822960"/>
          </a:xfrm>
          <a:prstGeom prst="rect">
            <a:avLst/>
          </a:prstGeom>
          <a:noFill/>
          <a:ln/>
        </p:spPr>
        <p:txBody>
          <a:bodyPr wrap="square" lIns="0" tIns="0" rIns="0" bIns="0" rtlCol="0" anchor="ctr"/>
          <a:lstStyle/>
          <a:p>
            <a:pPr algn="ctr" indent="0" marL="0">
              <a:buNone/>
            </a:pPr>
            <a:r>
              <a:rPr lang="en-US" sz="1050" dirty="0">
                <a:solidFill>
                  <a:srgbClr val="CFE8D8"/>
                </a:solidFill>
                <a:latin typeface="Calibri" pitchFamily="34" charset="0"/>
                <a:ea typeface="Calibri" pitchFamily="34" charset="-122"/>
                <a:cs typeface="Calibri" pitchFamily="34" charset="-120"/>
              </a:rPr>
              <a:t>index.html</a:t>
            </a:r>
            <a:endParaRPr lang="en-US" sz="1050" dirty="0"/>
          </a:p>
          <a:p>
            <a:pPr algn="ctr" indent="0" marL="0">
              <a:buNone/>
            </a:pPr>
            <a:r>
              <a:rPr lang="en-US" sz="1050" dirty="0">
                <a:solidFill>
                  <a:srgbClr val="CFE8D8"/>
                </a:solidFill>
                <a:latin typeface="Calibri" pitchFamily="34" charset="0"/>
                <a:ea typeface="Calibri" pitchFamily="34" charset="-122"/>
                <a:cs typeface="Calibri" pitchFamily="34" charset="-120"/>
              </a:rPr>
              <a:t>plantilla data-driven</a:t>
            </a:r>
            <a:endParaRPr lang="en-US" sz="1050" dirty="0"/>
          </a:p>
          <a:p>
            <a:pPr algn="ctr" indent="0" marL="0">
              <a:buNone/>
            </a:pPr>
            <a:r>
              <a:rPr lang="en-US" sz="1050" dirty="0">
                <a:solidFill>
                  <a:srgbClr val="CFE8D8"/>
                </a:solidFill>
                <a:latin typeface="Calibri" pitchFamily="34" charset="0"/>
                <a:ea typeface="Calibri" pitchFamily="34" charset="-122"/>
                <a:cs typeface="Calibri" pitchFamily="34" charset="-120"/>
              </a:rPr>
              <a:t>(10 secciones)</a:t>
            </a:r>
            <a:endParaRPr lang="en-US" sz="1050" dirty="0"/>
          </a:p>
        </p:txBody>
      </p:sp>
      <p:sp>
        <p:nvSpPr>
          <p:cNvPr id="14" name="Shape 10"/>
          <p:cNvSpPr/>
          <p:nvPr/>
        </p:nvSpPr>
        <p:spPr>
          <a:xfrm>
            <a:off x="8778240" y="1828800"/>
            <a:ext cx="2880360" cy="1298448"/>
          </a:xfrm>
          <a:prstGeom prst="roundRect">
            <a:avLst>
              <a:gd name="adj" fmla="val 6338"/>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15" name="Text 11"/>
          <p:cNvSpPr/>
          <p:nvPr/>
        </p:nvSpPr>
        <p:spPr>
          <a:xfrm>
            <a:off x="8961120" y="1956816"/>
            <a:ext cx="2514600" cy="256032"/>
          </a:xfrm>
          <a:prstGeom prst="rect">
            <a:avLst/>
          </a:prstGeom>
          <a:noFill/>
          <a:ln/>
        </p:spPr>
        <p:txBody>
          <a:bodyPr wrap="square" lIns="0" tIns="0" rIns="0" bIns="0" rtlCol="0" anchor="ctr"/>
          <a:lstStyle/>
          <a:p>
            <a:pPr indent="0" marL="0">
              <a:buNone/>
            </a:pPr>
            <a:r>
              <a:rPr lang="en-US" sz="1050" dirty="0">
                <a:solidFill>
                  <a:srgbClr val="15803D"/>
                </a:solidFill>
                <a:latin typeface="Courier New" pitchFamily="34" charset="0"/>
                <a:ea typeface="Courier New" pitchFamily="34" charset="-122"/>
                <a:cs typeface="Courier New" pitchFamily="34" charset="-120"/>
              </a:rPr>
              <a:t>clientes/tepeyac/</a:t>
            </a:r>
            <a:endParaRPr lang="en-US" sz="1050" dirty="0"/>
          </a:p>
        </p:txBody>
      </p:sp>
      <p:sp>
        <p:nvSpPr>
          <p:cNvPr id="16" name="Text 12"/>
          <p:cNvSpPr/>
          <p:nvPr/>
        </p:nvSpPr>
        <p:spPr>
          <a:xfrm>
            <a:off x="8961120" y="2231136"/>
            <a:ext cx="2514600" cy="274320"/>
          </a:xfrm>
          <a:prstGeom prst="rect">
            <a:avLst/>
          </a:prstGeom>
          <a:noFill/>
          <a:ln/>
        </p:spPr>
        <p:txBody>
          <a:bodyPr wrap="square" lIns="0" tIns="0" rIns="0" bIns="0" rtlCol="0" anchor="ctr"/>
          <a:lstStyle/>
          <a:p>
            <a:pPr indent="0" marL="0">
              <a:buNone/>
            </a:pPr>
            <a:r>
              <a:rPr lang="en-US" sz="1300" b="1" dirty="0">
                <a:solidFill>
                  <a:srgbClr val="10261C"/>
                </a:solidFill>
                <a:latin typeface="Calibri" pitchFamily="34" charset="0"/>
                <a:ea typeface="Calibri" pitchFamily="34" charset="-122"/>
                <a:cs typeface="Calibri" pitchFamily="34" charset="-120"/>
              </a:rPr>
              <a:t>Fertilizantes Tepeyac</a:t>
            </a:r>
            <a:endParaRPr lang="en-US" sz="1300" dirty="0"/>
          </a:p>
        </p:txBody>
      </p:sp>
      <p:sp>
        <p:nvSpPr>
          <p:cNvPr id="17" name="Text 13"/>
          <p:cNvSpPr/>
          <p:nvPr/>
        </p:nvSpPr>
        <p:spPr>
          <a:xfrm>
            <a:off x="8961120" y="2523744"/>
            <a:ext cx="2514600" cy="512064"/>
          </a:xfrm>
          <a:prstGeom prst="rect">
            <a:avLst/>
          </a:prstGeom>
          <a:noFill/>
          <a:ln/>
        </p:spPr>
        <p:txBody>
          <a:bodyPr wrap="square" lIns="0" tIns="0" rIns="0" bIns="0" rtlCol="0" anchor="t"/>
          <a:lstStyle/>
          <a:p>
            <a:pPr indent="0" marL="0">
              <a:buNone/>
            </a:pPr>
            <a:r>
              <a:rPr lang="en-US" sz="1050" dirty="0">
                <a:solidFill>
                  <a:srgbClr val="4C6053"/>
                </a:solidFill>
                <a:latin typeface="Calibri" pitchFamily="34" charset="0"/>
                <a:ea typeface="Calibri" pitchFamily="34" charset="-122"/>
                <a:cs typeface="Calibri" pitchFamily="34" charset="-120"/>
              </a:rPr>
              <a:t>Informe raíz del sitio</a:t>
            </a:r>
            <a:endParaRPr lang="en-US" sz="1050" dirty="0"/>
          </a:p>
        </p:txBody>
      </p:sp>
      <p:sp>
        <p:nvSpPr>
          <p:cNvPr id="18" name="Shape 14"/>
          <p:cNvSpPr/>
          <p:nvPr/>
        </p:nvSpPr>
        <p:spPr>
          <a:xfrm flipV="1">
            <a:off x="8119872" y="3337560"/>
            <a:ext cx="585216" cy="-859536"/>
          </a:xfrm>
          <a:prstGeom prst="line">
            <a:avLst/>
          </a:prstGeom>
          <a:noFill/>
          <a:ln w="22225">
            <a:solidFill>
              <a:srgbClr val="15803D"/>
            </a:solidFill>
            <a:prstDash val="solid"/>
            <a:tailEnd type="triangle"/>
          </a:ln>
        </p:spPr>
      </p:sp>
      <p:sp>
        <p:nvSpPr>
          <p:cNvPr id="19" name="Shape 15"/>
          <p:cNvSpPr/>
          <p:nvPr/>
        </p:nvSpPr>
        <p:spPr>
          <a:xfrm>
            <a:off x="8778240" y="3419856"/>
            <a:ext cx="2880360" cy="1298448"/>
          </a:xfrm>
          <a:prstGeom prst="roundRect">
            <a:avLst>
              <a:gd name="adj" fmla="val 6338"/>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20" name="Text 16"/>
          <p:cNvSpPr/>
          <p:nvPr/>
        </p:nvSpPr>
        <p:spPr>
          <a:xfrm>
            <a:off x="8961120" y="3547872"/>
            <a:ext cx="2514600" cy="256032"/>
          </a:xfrm>
          <a:prstGeom prst="rect">
            <a:avLst/>
          </a:prstGeom>
          <a:noFill/>
          <a:ln/>
        </p:spPr>
        <p:txBody>
          <a:bodyPr wrap="square" lIns="0" tIns="0" rIns="0" bIns="0" rtlCol="0" anchor="ctr"/>
          <a:lstStyle/>
          <a:p>
            <a:pPr indent="0" marL="0">
              <a:buNone/>
            </a:pPr>
            <a:r>
              <a:rPr lang="en-US" sz="1050" dirty="0">
                <a:solidFill>
                  <a:srgbClr val="15803D"/>
                </a:solidFill>
                <a:latin typeface="Courier New" pitchFamily="34" charset="0"/>
                <a:ea typeface="Courier New" pitchFamily="34" charset="-122"/>
                <a:cs typeface="Courier New" pitchFamily="34" charset="-120"/>
              </a:rPr>
              <a:t>clientes/jytexpress/</a:t>
            </a:r>
            <a:endParaRPr lang="en-US" sz="1050" dirty="0"/>
          </a:p>
        </p:txBody>
      </p:sp>
      <p:sp>
        <p:nvSpPr>
          <p:cNvPr id="21" name="Text 17"/>
          <p:cNvSpPr/>
          <p:nvPr/>
        </p:nvSpPr>
        <p:spPr>
          <a:xfrm>
            <a:off x="8961120" y="3822192"/>
            <a:ext cx="2514600" cy="274320"/>
          </a:xfrm>
          <a:prstGeom prst="rect">
            <a:avLst/>
          </a:prstGeom>
          <a:noFill/>
          <a:ln/>
        </p:spPr>
        <p:txBody>
          <a:bodyPr wrap="square" lIns="0" tIns="0" rIns="0" bIns="0" rtlCol="0" anchor="ctr"/>
          <a:lstStyle/>
          <a:p>
            <a:pPr indent="0" marL="0">
              <a:buNone/>
            </a:pPr>
            <a:r>
              <a:rPr lang="en-US" sz="1300" b="1" dirty="0">
                <a:solidFill>
                  <a:srgbClr val="10261C"/>
                </a:solidFill>
                <a:latin typeface="Calibri" pitchFamily="34" charset="0"/>
                <a:ea typeface="Calibri" pitchFamily="34" charset="-122"/>
                <a:cs typeface="Calibri" pitchFamily="34" charset="-120"/>
              </a:rPr>
              <a:t>J&amp;T Express</a:t>
            </a:r>
            <a:endParaRPr lang="en-US" sz="1300" dirty="0"/>
          </a:p>
        </p:txBody>
      </p:sp>
      <p:sp>
        <p:nvSpPr>
          <p:cNvPr id="22" name="Text 18"/>
          <p:cNvSpPr/>
          <p:nvPr/>
        </p:nvSpPr>
        <p:spPr>
          <a:xfrm>
            <a:off x="8961120" y="4114800"/>
            <a:ext cx="2514600" cy="512064"/>
          </a:xfrm>
          <a:prstGeom prst="rect">
            <a:avLst/>
          </a:prstGeom>
          <a:noFill/>
          <a:ln/>
        </p:spPr>
        <p:txBody>
          <a:bodyPr wrap="square" lIns="0" tIns="0" rIns="0" bIns="0" rtlCol="0" anchor="t"/>
          <a:lstStyle/>
          <a:p>
            <a:pPr indent="0" marL="0">
              <a:buNone/>
            </a:pPr>
            <a:r>
              <a:rPr lang="en-US" sz="1050" dirty="0">
                <a:solidFill>
                  <a:srgbClr val="4C6053"/>
                </a:solidFill>
                <a:latin typeface="Calibri" pitchFamily="34" charset="0"/>
                <a:ea typeface="Calibri" pitchFamily="34" charset="-122"/>
                <a:cs typeface="Calibri" pitchFamily="34" charset="-120"/>
              </a:rPr>
              <a:t>Informe + tablero + histórico (flota GTL)</a:t>
            </a:r>
            <a:endParaRPr lang="en-US" sz="1050" dirty="0"/>
          </a:p>
        </p:txBody>
      </p:sp>
      <p:sp>
        <p:nvSpPr>
          <p:cNvPr id="23" name="Shape 19"/>
          <p:cNvSpPr/>
          <p:nvPr/>
        </p:nvSpPr>
        <p:spPr>
          <a:xfrm>
            <a:off x="8119872" y="3337560"/>
            <a:ext cx="585216" cy="731520"/>
          </a:xfrm>
          <a:prstGeom prst="line">
            <a:avLst/>
          </a:prstGeom>
          <a:noFill/>
          <a:ln w="22225">
            <a:solidFill>
              <a:srgbClr val="15803D"/>
            </a:solidFill>
            <a:prstDash val="solid"/>
            <a:tailEnd type="triangle"/>
          </a:ln>
        </p:spPr>
      </p:sp>
      <p:sp>
        <p:nvSpPr>
          <p:cNvPr id="24" name="Shape 20"/>
          <p:cNvSpPr/>
          <p:nvPr/>
        </p:nvSpPr>
        <p:spPr>
          <a:xfrm>
            <a:off x="8778240" y="5010912"/>
            <a:ext cx="2880360" cy="1298448"/>
          </a:xfrm>
          <a:prstGeom prst="roundRect">
            <a:avLst>
              <a:gd name="adj" fmla="val 6338"/>
            </a:avLst>
          </a:prstGeom>
          <a:solidFill>
            <a:srgbClr val="E4F2DC"/>
          </a:solidFill>
          <a:ln w="15875">
            <a:solidFill>
              <a:srgbClr val="16A34A"/>
            </a:solidFill>
            <a:prstDash val="solid"/>
          </a:ln>
          <a:effectLst>
            <a:outerShdw sx="100000" sy="100000" kx="0" ky="0" algn="bl" rotWithShape="0" blurRad="127000" dist="38100" dir="5400000">
              <a:srgbClr val="104626">
                <a:alpha val="18000"/>
              </a:srgbClr>
            </a:outerShdw>
          </a:effectLst>
        </p:spPr>
      </p:sp>
      <p:sp>
        <p:nvSpPr>
          <p:cNvPr id="25" name="Text 21"/>
          <p:cNvSpPr/>
          <p:nvPr/>
        </p:nvSpPr>
        <p:spPr>
          <a:xfrm>
            <a:off x="8961120" y="5138928"/>
            <a:ext cx="2514600" cy="256032"/>
          </a:xfrm>
          <a:prstGeom prst="rect">
            <a:avLst/>
          </a:prstGeom>
          <a:noFill/>
          <a:ln/>
        </p:spPr>
        <p:txBody>
          <a:bodyPr wrap="square" lIns="0" tIns="0" rIns="0" bIns="0" rtlCol="0" anchor="ctr"/>
          <a:lstStyle/>
          <a:p>
            <a:pPr indent="0" marL="0">
              <a:buNone/>
            </a:pPr>
            <a:r>
              <a:rPr lang="en-US" sz="1050" dirty="0">
                <a:solidFill>
                  <a:srgbClr val="15803D"/>
                </a:solidFill>
                <a:latin typeface="Courier New" pitchFamily="34" charset="0"/>
                <a:ea typeface="Courier New" pitchFamily="34" charset="-122"/>
                <a:cs typeface="Courier New" pitchFamily="34" charset="-120"/>
              </a:rPr>
              <a:t>clientes/&lt;nuevo&gt;/</a:t>
            </a:r>
            <a:endParaRPr lang="en-US" sz="1050" dirty="0"/>
          </a:p>
        </p:txBody>
      </p:sp>
      <p:sp>
        <p:nvSpPr>
          <p:cNvPr id="26" name="Text 22"/>
          <p:cNvSpPr/>
          <p:nvPr/>
        </p:nvSpPr>
        <p:spPr>
          <a:xfrm>
            <a:off x="8961120" y="5413248"/>
            <a:ext cx="2514600" cy="274320"/>
          </a:xfrm>
          <a:prstGeom prst="rect">
            <a:avLst/>
          </a:prstGeom>
          <a:noFill/>
          <a:ln/>
        </p:spPr>
        <p:txBody>
          <a:bodyPr wrap="square" lIns="0" tIns="0" rIns="0" bIns="0" rtlCol="0" anchor="ctr"/>
          <a:lstStyle/>
          <a:p>
            <a:pPr indent="0" marL="0">
              <a:buNone/>
            </a:pPr>
            <a:r>
              <a:rPr lang="en-US" sz="1300" b="1" dirty="0">
                <a:solidFill>
                  <a:srgbClr val="10261C"/>
                </a:solidFill>
                <a:latin typeface="Calibri" pitchFamily="34" charset="0"/>
                <a:ea typeface="Calibri" pitchFamily="34" charset="-122"/>
                <a:cs typeface="Calibri" pitchFamily="34" charset="-120"/>
              </a:rPr>
              <a:t>Cliente nuevo</a:t>
            </a:r>
            <a:endParaRPr lang="en-US" sz="1300" dirty="0"/>
          </a:p>
        </p:txBody>
      </p:sp>
      <p:sp>
        <p:nvSpPr>
          <p:cNvPr id="27" name="Text 23"/>
          <p:cNvSpPr/>
          <p:nvPr/>
        </p:nvSpPr>
        <p:spPr>
          <a:xfrm>
            <a:off x="8961120" y="5705856"/>
            <a:ext cx="2514600" cy="512064"/>
          </a:xfrm>
          <a:prstGeom prst="rect">
            <a:avLst/>
          </a:prstGeom>
          <a:noFill/>
          <a:ln/>
        </p:spPr>
        <p:txBody>
          <a:bodyPr wrap="square" lIns="0" tIns="0" rIns="0" bIns="0" rtlCol="0" anchor="t"/>
          <a:lstStyle/>
          <a:p>
            <a:pPr indent="0" marL="0">
              <a:buNone/>
            </a:pPr>
            <a:r>
              <a:rPr lang="en-US" sz="1050" dirty="0">
                <a:solidFill>
                  <a:srgbClr val="4C6053"/>
                </a:solidFill>
                <a:latin typeface="Calibri" pitchFamily="34" charset="0"/>
                <a:ea typeface="Calibri" pitchFamily="34" charset="-122"/>
                <a:cs typeface="Calibri" pitchFamily="34" charset="-120"/>
              </a:rPr>
              <a:t>1 secret MAPON_&lt;CLIENTE&gt; + correr workflow</a:t>
            </a:r>
            <a:endParaRPr lang="en-US" sz="1050" dirty="0"/>
          </a:p>
        </p:txBody>
      </p:sp>
      <p:sp>
        <p:nvSpPr>
          <p:cNvPr id="28" name="Shape 24"/>
          <p:cNvSpPr/>
          <p:nvPr/>
        </p:nvSpPr>
        <p:spPr>
          <a:xfrm>
            <a:off x="8119872" y="3337560"/>
            <a:ext cx="585216" cy="2322576"/>
          </a:xfrm>
          <a:prstGeom prst="line">
            <a:avLst/>
          </a:prstGeom>
          <a:noFill/>
          <a:ln w="22225">
            <a:solidFill>
              <a:srgbClr val="15803D"/>
            </a:solidFill>
            <a:prstDash val="solid"/>
            <a:tailEnd type="triangle"/>
          </a:ln>
        </p:spPr>
      </p:sp>
      <p:sp>
        <p:nvSpPr>
          <p:cNvPr id="29" name="Text 25"/>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5A08F"/>
                </a:solidFill>
                <a:latin typeface="Calibri" pitchFamily="34" charset="0"/>
                <a:ea typeface="Calibri" pitchFamily="34" charset="-122"/>
                <a:cs typeface="Calibri" pitchFamily="34" charset="-120"/>
              </a:rPr>
              <a:t>Advance · Justificación técnica de la plataforma de informes</a:t>
            </a:r>
            <a:endParaRPr lang="en-US" sz="900" dirty="0"/>
          </a:p>
        </p:txBody>
      </p:sp>
      <p:sp>
        <p:nvSpPr>
          <p:cNvPr id="30" name="Text 26"/>
          <p:cNvSpPr/>
          <p:nvPr/>
        </p:nvSpPr>
        <p:spPr>
          <a:xfrm>
            <a:off x="11365992" y="6510528"/>
            <a:ext cx="365760" cy="274320"/>
          </a:xfrm>
          <a:prstGeom prst="rect">
            <a:avLst/>
          </a:prstGeom>
          <a:noFill/>
          <a:ln/>
        </p:spPr>
        <p:txBody>
          <a:bodyPr wrap="square" lIns="0" tIns="0" rIns="0" bIns="0" rtlCol="0" anchor="ctr"/>
          <a:lstStyle/>
          <a:p>
            <a:pPr algn="r" indent="0" marL="0">
              <a:buNone/>
            </a:pPr>
            <a:r>
              <a:rPr lang="en-US" sz="900" dirty="0">
                <a:solidFill>
                  <a:srgbClr val="85A08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515600" cy="292608"/>
          </a:xfrm>
          <a:prstGeom prst="rect">
            <a:avLst/>
          </a:prstGeom>
          <a:noFill/>
          <a:ln/>
        </p:spPr>
        <p:txBody>
          <a:bodyPr wrap="square" lIns="0" tIns="0" rIns="0" bIns="0" rtlCol="0" anchor="ctr"/>
          <a:lstStyle/>
          <a:p>
            <a:pPr indent="0" marL="0">
              <a:buNone/>
            </a:pPr>
            <a:r>
              <a:rPr lang="en-US" sz="1200" b="1" spc="200" kern="0" dirty="0">
                <a:solidFill>
                  <a:srgbClr val="15803D"/>
                </a:solidFill>
                <a:latin typeface="Calibri" pitchFamily="34" charset="0"/>
                <a:ea typeface="Calibri" pitchFamily="34" charset="-122"/>
                <a:cs typeface="Calibri" pitchFamily="34" charset="-120"/>
              </a:rPr>
              <a:t>PRINCIPIO 2</a:t>
            </a:r>
            <a:endParaRPr lang="en-US" sz="1200" dirty="0"/>
          </a:p>
        </p:txBody>
      </p:sp>
      <p:sp>
        <p:nvSpPr>
          <p:cNvPr id="3" name="Text 1"/>
          <p:cNvSpPr/>
          <p:nvPr/>
        </p:nvSpPr>
        <p:spPr>
          <a:xfrm>
            <a:off x="502920" y="658368"/>
            <a:ext cx="10424160" cy="658368"/>
          </a:xfrm>
          <a:prstGeom prst="rect">
            <a:avLst/>
          </a:prstGeom>
          <a:noFill/>
          <a:ln/>
        </p:spPr>
        <p:txBody>
          <a:bodyPr wrap="square" lIns="0" tIns="0" rIns="0" bIns="0" rtlCol="0" anchor="ctr"/>
          <a:lstStyle/>
          <a:p>
            <a:pPr indent="0" marL="0">
              <a:buNone/>
            </a:pPr>
            <a:r>
              <a:rPr lang="en-US" sz="3000" b="1" dirty="0">
                <a:solidFill>
                  <a:srgbClr val="10261C"/>
                </a:solidFill>
                <a:latin typeface="Calibri" pitchFamily="34" charset="0"/>
                <a:ea typeface="Calibri" pitchFamily="34" charset="-122"/>
                <a:cs typeface="Calibri" pitchFamily="34" charset="-120"/>
              </a:rPr>
              <a:t>Automatización sin servidores</a:t>
            </a:r>
            <a:endParaRPr lang="en-US" sz="3000" dirty="0"/>
          </a:p>
        </p:txBody>
      </p:sp>
      <p:pic>
        <p:nvPicPr>
          <p:cNvPr id="4" name="Image 0" descr="isotipo-green.png">    </p:cNvPr>
          <p:cNvPicPr>
            <a:picLocks noChangeAspect="1"/>
          </p:cNvPicPr>
          <p:nvPr/>
        </p:nvPicPr>
        <p:blipFill>
          <a:blip r:embed="rId1">
            <a:alphaModFix amt="80000"/>
          </a:blip>
          <a:stretch>
            <a:fillRect/>
          </a:stretch>
        </p:blipFill>
        <p:spPr>
          <a:xfrm>
            <a:off x="11228832" y="384048"/>
            <a:ext cx="457200" cy="498348"/>
          </a:xfrm>
          <a:prstGeom prst="rect">
            <a:avLst/>
          </a:prstGeom>
        </p:spPr>
      </p:pic>
      <p:sp>
        <p:nvSpPr>
          <p:cNvPr id="5" name="Shape 2"/>
          <p:cNvSpPr/>
          <p:nvPr/>
        </p:nvSpPr>
        <p:spPr>
          <a:xfrm>
            <a:off x="1485900" y="2331720"/>
            <a:ext cx="9217152" cy="0"/>
          </a:xfrm>
          <a:prstGeom prst="line">
            <a:avLst/>
          </a:prstGeom>
          <a:noFill/>
          <a:ln w="31750">
            <a:solidFill>
              <a:srgbClr val="C9E0BC"/>
            </a:solidFill>
            <a:prstDash val="solid"/>
          </a:ln>
        </p:spPr>
      </p:sp>
      <p:sp>
        <p:nvSpPr>
          <p:cNvPr id="6" name="Shape 3"/>
          <p:cNvSpPr/>
          <p:nvPr/>
        </p:nvSpPr>
        <p:spPr>
          <a:xfrm>
            <a:off x="1156716" y="2002536"/>
            <a:ext cx="658368" cy="658368"/>
          </a:xfrm>
          <a:prstGeom prst="ellipse">
            <a:avLst/>
          </a:prstGeom>
          <a:solidFill>
            <a:srgbClr val="0F5132"/>
          </a:solidFill>
          <a:ln w="25400">
            <a:solidFill>
              <a:srgbClr val="FFFFFF"/>
            </a:solidFill>
            <a:prstDash val="solid"/>
          </a:ln>
          <a:effectLst>
            <a:outerShdw sx="100000" sy="100000" kx="0" ky="0" algn="bl" rotWithShape="0" blurRad="127000" dist="38100" dir="5400000">
              <a:srgbClr val="104626">
                <a:alpha val="18000"/>
              </a:srgbClr>
            </a:outerShdw>
          </a:effectLst>
        </p:spPr>
      </p:sp>
      <p:sp>
        <p:nvSpPr>
          <p:cNvPr id="7" name="Text 4"/>
          <p:cNvSpPr/>
          <p:nvPr/>
        </p:nvSpPr>
        <p:spPr>
          <a:xfrm>
            <a:off x="1156716" y="2002536"/>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5"/>
          <p:cNvSpPr/>
          <p:nvPr/>
        </p:nvSpPr>
        <p:spPr>
          <a:xfrm>
            <a:off x="434340" y="2880360"/>
            <a:ext cx="2103120" cy="320040"/>
          </a:xfrm>
          <a:prstGeom prst="rect">
            <a:avLst/>
          </a:prstGeom>
          <a:noFill/>
          <a:ln/>
        </p:spPr>
        <p:txBody>
          <a:bodyPr wrap="square" lIns="0" tIns="0" rIns="0" bIns="0" rtlCol="0" anchor="ctr"/>
          <a:lstStyle/>
          <a:p>
            <a:pPr algn="ctr" indent="0" marL="0">
              <a:buNone/>
            </a:pPr>
            <a:r>
              <a:rPr lang="en-US" sz="1350" b="1" dirty="0">
                <a:solidFill>
                  <a:srgbClr val="10261C"/>
                </a:solidFill>
                <a:latin typeface="Calibri" pitchFamily="34" charset="0"/>
                <a:ea typeface="Calibri" pitchFamily="34" charset="-122"/>
                <a:cs typeface="Calibri" pitchFamily="34" charset="-120"/>
              </a:rPr>
              <a:t>Despierta solo</a:t>
            </a:r>
            <a:endParaRPr lang="en-US" sz="1350" dirty="0"/>
          </a:p>
        </p:txBody>
      </p:sp>
      <p:sp>
        <p:nvSpPr>
          <p:cNvPr id="9" name="Text 6"/>
          <p:cNvSpPr/>
          <p:nvPr/>
        </p:nvSpPr>
        <p:spPr>
          <a:xfrm>
            <a:off x="480060" y="3218688"/>
            <a:ext cx="2011680" cy="1371600"/>
          </a:xfrm>
          <a:prstGeom prst="rect">
            <a:avLst/>
          </a:prstGeom>
          <a:noFill/>
          <a:ln/>
        </p:spPr>
        <p:txBody>
          <a:bodyPr wrap="square" lIns="0" tIns="0" rIns="0" bIns="0" rtlCol="0" anchor="t"/>
          <a:lstStyle/>
          <a:p>
            <a:pPr algn="ctr" indent="0" marL="0">
              <a:buNone/>
            </a:pPr>
            <a:r>
              <a:rPr lang="en-US" sz="1050" dirty="0">
                <a:solidFill>
                  <a:srgbClr val="4C6053"/>
                </a:solidFill>
                <a:latin typeface="Calibri" pitchFamily="34" charset="0"/>
                <a:ea typeface="Calibri" pitchFamily="34" charset="-122"/>
                <a:cs typeface="Calibri" pitchFamily="34" charset="-120"/>
              </a:rPr>
              <a:t>Cron diario a las 12:00 UTC (≈ 06:00 MX). También corre en cada push o bajo demanda.</a:t>
            </a:r>
            <a:endParaRPr lang="en-US" sz="1050" dirty="0"/>
          </a:p>
        </p:txBody>
      </p:sp>
      <p:sp>
        <p:nvSpPr>
          <p:cNvPr id="10" name="Shape 7"/>
          <p:cNvSpPr/>
          <p:nvPr/>
        </p:nvSpPr>
        <p:spPr>
          <a:xfrm>
            <a:off x="3461004" y="2002536"/>
            <a:ext cx="658368" cy="658368"/>
          </a:xfrm>
          <a:prstGeom prst="ellipse">
            <a:avLst/>
          </a:prstGeom>
          <a:solidFill>
            <a:srgbClr val="0F5132"/>
          </a:solidFill>
          <a:ln w="25400">
            <a:solidFill>
              <a:srgbClr val="FFFFFF"/>
            </a:solidFill>
            <a:prstDash val="solid"/>
          </a:ln>
          <a:effectLst>
            <a:outerShdw sx="100000" sy="100000" kx="0" ky="0" algn="bl" rotWithShape="0" blurRad="127000" dist="38100" dir="5400000">
              <a:srgbClr val="104626">
                <a:alpha val="18000"/>
              </a:srgbClr>
            </a:outerShdw>
          </a:effectLst>
        </p:spPr>
      </p:sp>
      <p:sp>
        <p:nvSpPr>
          <p:cNvPr id="11" name="Text 8"/>
          <p:cNvSpPr/>
          <p:nvPr/>
        </p:nvSpPr>
        <p:spPr>
          <a:xfrm>
            <a:off x="3461004" y="2002536"/>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9"/>
          <p:cNvSpPr/>
          <p:nvPr/>
        </p:nvSpPr>
        <p:spPr>
          <a:xfrm>
            <a:off x="2738628" y="2880360"/>
            <a:ext cx="2103120" cy="320040"/>
          </a:xfrm>
          <a:prstGeom prst="rect">
            <a:avLst/>
          </a:prstGeom>
          <a:noFill/>
          <a:ln/>
        </p:spPr>
        <p:txBody>
          <a:bodyPr wrap="square" lIns="0" tIns="0" rIns="0" bIns="0" rtlCol="0" anchor="ctr"/>
          <a:lstStyle/>
          <a:p>
            <a:pPr algn="ctr" indent="0" marL="0">
              <a:buNone/>
            </a:pPr>
            <a:r>
              <a:rPr lang="en-US" sz="1350" b="1" dirty="0">
                <a:solidFill>
                  <a:srgbClr val="10261C"/>
                </a:solidFill>
                <a:latin typeface="Calibri" pitchFamily="34" charset="0"/>
                <a:ea typeface="Calibri" pitchFamily="34" charset="-122"/>
                <a:cs typeface="Calibri" pitchFamily="34" charset="-120"/>
              </a:rPr>
              <a:t>Descubre clientes</a:t>
            </a:r>
            <a:endParaRPr lang="en-US" sz="1350" dirty="0"/>
          </a:p>
        </p:txBody>
      </p:sp>
      <p:sp>
        <p:nvSpPr>
          <p:cNvPr id="13" name="Text 10"/>
          <p:cNvSpPr/>
          <p:nvPr/>
        </p:nvSpPr>
        <p:spPr>
          <a:xfrm>
            <a:off x="2784348" y="3218688"/>
            <a:ext cx="2011680" cy="1371600"/>
          </a:xfrm>
          <a:prstGeom prst="rect">
            <a:avLst/>
          </a:prstGeom>
          <a:noFill/>
          <a:ln/>
        </p:spPr>
        <p:txBody>
          <a:bodyPr wrap="square" lIns="0" tIns="0" rIns="0" bIns="0" rtlCol="0" anchor="t"/>
          <a:lstStyle/>
          <a:p>
            <a:pPr algn="ctr" indent="0" marL="0">
              <a:buNone/>
            </a:pPr>
            <a:r>
              <a:rPr lang="en-US" sz="1050" dirty="0">
                <a:solidFill>
                  <a:srgbClr val="4C6053"/>
                </a:solidFill>
                <a:latin typeface="Calibri" pitchFamily="34" charset="0"/>
                <a:ea typeface="Calibri" pitchFamily="34" charset="-122"/>
                <a:cs typeface="Calibri" pitchFamily="34" charset="-120"/>
              </a:rPr>
              <a:t>Detecta todos los secrets MAPON_*. Agregar un secret = agregar un cliente al pipeline.</a:t>
            </a:r>
            <a:endParaRPr lang="en-US" sz="1050" dirty="0"/>
          </a:p>
        </p:txBody>
      </p:sp>
      <p:sp>
        <p:nvSpPr>
          <p:cNvPr id="14" name="Shape 11"/>
          <p:cNvSpPr/>
          <p:nvPr/>
        </p:nvSpPr>
        <p:spPr>
          <a:xfrm>
            <a:off x="5765292" y="2002536"/>
            <a:ext cx="658368" cy="658368"/>
          </a:xfrm>
          <a:prstGeom prst="ellipse">
            <a:avLst/>
          </a:prstGeom>
          <a:solidFill>
            <a:srgbClr val="0F5132"/>
          </a:solidFill>
          <a:ln w="25400">
            <a:solidFill>
              <a:srgbClr val="FFFFFF"/>
            </a:solidFill>
            <a:prstDash val="solid"/>
          </a:ln>
          <a:effectLst>
            <a:outerShdw sx="100000" sy="100000" kx="0" ky="0" algn="bl" rotWithShape="0" blurRad="127000" dist="38100" dir="5400000">
              <a:srgbClr val="104626">
                <a:alpha val="18000"/>
              </a:srgbClr>
            </a:outerShdw>
          </a:effectLst>
        </p:spPr>
      </p:sp>
      <p:sp>
        <p:nvSpPr>
          <p:cNvPr id="15" name="Text 12"/>
          <p:cNvSpPr/>
          <p:nvPr/>
        </p:nvSpPr>
        <p:spPr>
          <a:xfrm>
            <a:off x="5765292" y="2002536"/>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6" name="Text 13"/>
          <p:cNvSpPr/>
          <p:nvPr/>
        </p:nvSpPr>
        <p:spPr>
          <a:xfrm>
            <a:off x="5042916" y="2880360"/>
            <a:ext cx="2103120" cy="320040"/>
          </a:xfrm>
          <a:prstGeom prst="rect">
            <a:avLst/>
          </a:prstGeom>
          <a:noFill/>
          <a:ln/>
        </p:spPr>
        <p:txBody>
          <a:bodyPr wrap="square" lIns="0" tIns="0" rIns="0" bIns="0" rtlCol="0" anchor="ctr"/>
          <a:lstStyle/>
          <a:p>
            <a:pPr algn="ctr" indent="0" marL="0">
              <a:buNone/>
            </a:pPr>
            <a:r>
              <a:rPr lang="en-US" sz="1350" b="1" dirty="0">
                <a:solidFill>
                  <a:srgbClr val="10261C"/>
                </a:solidFill>
                <a:latin typeface="Calibri" pitchFamily="34" charset="0"/>
                <a:ea typeface="Calibri" pitchFamily="34" charset="-122"/>
                <a:cs typeface="Calibri" pitchFamily="34" charset="-120"/>
              </a:rPr>
              <a:t>Consulta la API</a:t>
            </a:r>
            <a:endParaRPr lang="en-US" sz="1350" dirty="0"/>
          </a:p>
        </p:txBody>
      </p:sp>
      <p:sp>
        <p:nvSpPr>
          <p:cNvPr id="17" name="Text 14"/>
          <p:cNvSpPr/>
          <p:nvPr/>
        </p:nvSpPr>
        <p:spPr>
          <a:xfrm>
            <a:off x="5088636" y="3218688"/>
            <a:ext cx="2011680" cy="1371600"/>
          </a:xfrm>
          <a:prstGeom prst="rect">
            <a:avLst/>
          </a:prstGeom>
          <a:noFill/>
          <a:ln/>
        </p:spPr>
        <p:txBody>
          <a:bodyPr wrap="square" lIns="0" tIns="0" rIns="0" bIns="0" rtlCol="0" anchor="t"/>
          <a:lstStyle/>
          <a:p>
            <a:pPr algn="ctr" indent="0" marL="0">
              <a:buNone/>
            </a:pPr>
            <a:r>
              <a:rPr lang="en-US" sz="1050" dirty="0">
                <a:solidFill>
                  <a:srgbClr val="4C6053"/>
                </a:solidFill>
                <a:latin typeface="Calibri" pitchFamily="34" charset="0"/>
                <a:ea typeface="Calibri" pitchFamily="34" charset="-122"/>
                <a:cs typeface="Calibri" pitchFamily="34" charset="-120"/>
              </a:rPr>
              <a:t>Ventana móvil de 30 días: unidades, rutas, contadores CAN y alertas paginadas.</a:t>
            </a:r>
            <a:endParaRPr lang="en-US" sz="1050" dirty="0"/>
          </a:p>
        </p:txBody>
      </p:sp>
      <p:sp>
        <p:nvSpPr>
          <p:cNvPr id="18" name="Shape 15"/>
          <p:cNvSpPr/>
          <p:nvPr/>
        </p:nvSpPr>
        <p:spPr>
          <a:xfrm>
            <a:off x="8069580" y="2002536"/>
            <a:ext cx="658368" cy="658368"/>
          </a:xfrm>
          <a:prstGeom prst="ellipse">
            <a:avLst/>
          </a:prstGeom>
          <a:solidFill>
            <a:srgbClr val="0F5132"/>
          </a:solidFill>
          <a:ln w="25400">
            <a:solidFill>
              <a:srgbClr val="FFFFFF"/>
            </a:solidFill>
            <a:prstDash val="solid"/>
          </a:ln>
          <a:effectLst>
            <a:outerShdw sx="100000" sy="100000" kx="0" ky="0" algn="bl" rotWithShape="0" blurRad="127000" dist="38100" dir="5400000">
              <a:srgbClr val="104626">
                <a:alpha val="18000"/>
              </a:srgbClr>
            </a:outerShdw>
          </a:effectLst>
        </p:spPr>
      </p:sp>
      <p:sp>
        <p:nvSpPr>
          <p:cNvPr id="19" name="Text 16"/>
          <p:cNvSpPr/>
          <p:nvPr/>
        </p:nvSpPr>
        <p:spPr>
          <a:xfrm>
            <a:off x="8069580" y="2002536"/>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0" name="Text 17"/>
          <p:cNvSpPr/>
          <p:nvPr/>
        </p:nvSpPr>
        <p:spPr>
          <a:xfrm>
            <a:off x="7347204" y="2880360"/>
            <a:ext cx="2103120" cy="320040"/>
          </a:xfrm>
          <a:prstGeom prst="rect">
            <a:avLst/>
          </a:prstGeom>
          <a:noFill/>
          <a:ln/>
        </p:spPr>
        <p:txBody>
          <a:bodyPr wrap="square" lIns="0" tIns="0" rIns="0" bIns="0" rtlCol="0" anchor="ctr"/>
          <a:lstStyle/>
          <a:p>
            <a:pPr algn="ctr" indent="0" marL="0">
              <a:buNone/>
            </a:pPr>
            <a:r>
              <a:rPr lang="en-US" sz="1350" b="1" dirty="0">
                <a:solidFill>
                  <a:srgbClr val="10261C"/>
                </a:solidFill>
                <a:latin typeface="Calibri" pitchFamily="34" charset="0"/>
                <a:ea typeface="Calibri" pitchFamily="34" charset="-122"/>
                <a:cs typeface="Calibri" pitchFamily="34" charset="-120"/>
              </a:rPr>
              <a:t>Genera y commitea</a:t>
            </a:r>
            <a:endParaRPr lang="en-US" sz="1350" dirty="0"/>
          </a:p>
        </p:txBody>
      </p:sp>
      <p:sp>
        <p:nvSpPr>
          <p:cNvPr id="21" name="Text 18"/>
          <p:cNvSpPr/>
          <p:nvPr/>
        </p:nvSpPr>
        <p:spPr>
          <a:xfrm>
            <a:off x="7392924" y="3218688"/>
            <a:ext cx="2011680" cy="1371600"/>
          </a:xfrm>
          <a:prstGeom prst="rect">
            <a:avLst/>
          </a:prstGeom>
          <a:noFill/>
          <a:ln/>
        </p:spPr>
        <p:txBody>
          <a:bodyPr wrap="square" lIns="0" tIns="0" rIns="0" bIns="0" rtlCol="0" anchor="t"/>
          <a:lstStyle/>
          <a:p>
            <a:pPr algn="ctr" indent="0" marL="0">
              <a:buNone/>
            </a:pPr>
            <a:r>
              <a:rPr lang="en-US" sz="1050" dirty="0">
                <a:solidFill>
                  <a:srgbClr val="4C6053"/>
                </a:solidFill>
                <a:latin typeface="Calibri" pitchFamily="34" charset="0"/>
                <a:ea typeface="Calibri" pitchFamily="34" charset="-122"/>
                <a:cs typeface="Calibri" pitchFamily="34" charset="-120"/>
              </a:rPr>
              <a:t>El bot escribe cada informe y hace commit solo si hubo cambios reales.</a:t>
            </a:r>
            <a:endParaRPr lang="en-US" sz="1050" dirty="0"/>
          </a:p>
        </p:txBody>
      </p:sp>
      <p:sp>
        <p:nvSpPr>
          <p:cNvPr id="22" name="Shape 19"/>
          <p:cNvSpPr/>
          <p:nvPr/>
        </p:nvSpPr>
        <p:spPr>
          <a:xfrm>
            <a:off x="10373868" y="2002536"/>
            <a:ext cx="658368" cy="658368"/>
          </a:xfrm>
          <a:prstGeom prst="ellipse">
            <a:avLst/>
          </a:prstGeom>
          <a:solidFill>
            <a:srgbClr val="0D9488"/>
          </a:solidFill>
          <a:ln w="25400">
            <a:solidFill>
              <a:srgbClr val="FFFFFF"/>
            </a:solidFill>
            <a:prstDash val="solid"/>
          </a:ln>
          <a:effectLst>
            <a:outerShdw sx="100000" sy="100000" kx="0" ky="0" algn="bl" rotWithShape="0" blurRad="127000" dist="38100" dir="5400000">
              <a:srgbClr val="104626">
                <a:alpha val="18000"/>
              </a:srgbClr>
            </a:outerShdw>
          </a:effectLst>
        </p:spPr>
      </p:sp>
      <p:sp>
        <p:nvSpPr>
          <p:cNvPr id="23" name="Text 20"/>
          <p:cNvSpPr/>
          <p:nvPr/>
        </p:nvSpPr>
        <p:spPr>
          <a:xfrm>
            <a:off x="10373868" y="2002536"/>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4" name="Text 21"/>
          <p:cNvSpPr/>
          <p:nvPr/>
        </p:nvSpPr>
        <p:spPr>
          <a:xfrm>
            <a:off x="9651492" y="2880360"/>
            <a:ext cx="2103120" cy="320040"/>
          </a:xfrm>
          <a:prstGeom prst="rect">
            <a:avLst/>
          </a:prstGeom>
          <a:noFill/>
          <a:ln/>
        </p:spPr>
        <p:txBody>
          <a:bodyPr wrap="square" lIns="0" tIns="0" rIns="0" bIns="0" rtlCol="0" anchor="ctr"/>
          <a:lstStyle/>
          <a:p>
            <a:pPr algn="ctr" indent="0" marL="0">
              <a:buNone/>
            </a:pPr>
            <a:r>
              <a:rPr lang="en-US" sz="1350" b="1" dirty="0">
                <a:solidFill>
                  <a:srgbClr val="10261C"/>
                </a:solidFill>
                <a:latin typeface="Calibri" pitchFamily="34" charset="0"/>
                <a:ea typeface="Calibri" pitchFamily="34" charset="-122"/>
                <a:cs typeface="Calibri" pitchFamily="34" charset="-120"/>
              </a:rPr>
              <a:t>Netlify redespliega</a:t>
            </a:r>
            <a:endParaRPr lang="en-US" sz="1350" dirty="0"/>
          </a:p>
        </p:txBody>
      </p:sp>
      <p:sp>
        <p:nvSpPr>
          <p:cNvPr id="25" name="Text 22"/>
          <p:cNvSpPr/>
          <p:nvPr/>
        </p:nvSpPr>
        <p:spPr>
          <a:xfrm>
            <a:off x="9697212" y="3218688"/>
            <a:ext cx="2011680" cy="1371600"/>
          </a:xfrm>
          <a:prstGeom prst="rect">
            <a:avLst/>
          </a:prstGeom>
          <a:noFill/>
          <a:ln/>
        </p:spPr>
        <p:txBody>
          <a:bodyPr wrap="square" lIns="0" tIns="0" rIns="0" bIns="0" rtlCol="0" anchor="t"/>
          <a:lstStyle/>
          <a:p>
            <a:pPr algn="ctr" indent="0" marL="0">
              <a:buNone/>
            </a:pPr>
            <a:r>
              <a:rPr lang="en-US" sz="1050" dirty="0">
                <a:solidFill>
                  <a:srgbClr val="4C6053"/>
                </a:solidFill>
                <a:latin typeface="Calibri" pitchFamily="34" charset="0"/>
                <a:ea typeface="Calibri" pitchFamily="34" charset="-122"/>
                <a:cs typeface="Calibri" pitchFamily="34" charset="-120"/>
              </a:rPr>
              <a:t>El push publica automáticamente. La liga de cada cliente amanece actualizada.</a:t>
            </a:r>
            <a:endParaRPr lang="en-US" sz="1050" dirty="0"/>
          </a:p>
        </p:txBody>
      </p:sp>
      <p:sp>
        <p:nvSpPr>
          <p:cNvPr id="26" name="Shape 23"/>
          <p:cNvSpPr/>
          <p:nvPr/>
        </p:nvSpPr>
        <p:spPr>
          <a:xfrm>
            <a:off x="2194560" y="4983480"/>
            <a:ext cx="7799832" cy="1051560"/>
          </a:xfrm>
          <a:prstGeom prst="roundRect">
            <a:avLst>
              <a:gd name="adj" fmla="val 7826"/>
            </a:avLst>
          </a:prstGeom>
          <a:solidFill>
            <a:srgbClr val="E4F2DC"/>
          </a:solidFill>
          <a:ln w="12700">
            <a:solidFill>
              <a:srgbClr val="16A34A"/>
            </a:solidFill>
            <a:prstDash val="solid"/>
          </a:ln>
          <a:effectLst>
            <a:outerShdw sx="100000" sy="100000" kx="0" ky="0" algn="bl" rotWithShape="0" blurRad="127000" dist="38100" dir="5400000">
              <a:srgbClr val="104626">
                <a:alpha val="18000"/>
              </a:srgbClr>
            </a:outerShdw>
          </a:effectLst>
        </p:spPr>
      </p:sp>
      <p:sp>
        <p:nvSpPr>
          <p:cNvPr id="27" name="Text 24"/>
          <p:cNvSpPr/>
          <p:nvPr/>
        </p:nvSpPr>
        <p:spPr>
          <a:xfrm>
            <a:off x="2514600" y="4983480"/>
            <a:ext cx="7223760" cy="1051560"/>
          </a:xfrm>
          <a:prstGeom prst="rect">
            <a:avLst/>
          </a:prstGeom>
          <a:noFill/>
          <a:ln/>
        </p:spPr>
        <p:txBody>
          <a:bodyPr wrap="square" lIns="0" tIns="0" rIns="0" bIns="0" rtlCol="0" anchor="ctr"/>
          <a:lstStyle/>
          <a:p>
            <a:pPr indent="0" marL="0">
              <a:lnSpc>
                <a:spcPts val="1800"/>
              </a:lnSpc>
              <a:buNone/>
            </a:pPr>
            <a:r>
              <a:rPr lang="en-US" sz="1600" b="1" dirty="0">
                <a:solidFill>
                  <a:srgbClr val="0F5132"/>
                </a:solidFill>
                <a:latin typeface="Calibri" pitchFamily="34" charset="0"/>
                <a:ea typeface="Calibri" pitchFamily="34" charset="-122"/>
                <a:cs typeface="Calibri" pitchFamily="34" charset="-120"/>
              </a:rPr>
              <a:t>Cero intervención humana. </a:t>
            </a:r>
            <a:pPr indent="0" marL="0">
              <a:lnSpc>
                <a:spcPts val="1800"/>
              </a:lnSpc>
              <a:buNone/>
            </a:pPr>
            <a:r>
              <a:rPr lang="en-US" sz="1350" dirty="0">
                <a:solidFill>
                  <a:srgbClr val="4C6053"/>
                </a:solidFill>
                <a:latin typeface="Calibri" pitchFamily="34" charset="0"/>
                <a:ea typeface="Calibri" pitchFamily="34" charset="-122"/>
                <a:cs typeface="Calibri" pitchFamily="34" charset="-120"/>
              </a:rPr>
              <a:t>No hay servidor que vigilar, base de datos que respaldar ni tarea manual que olvidar: el sistema se mantiene solo, día tras día.</a:t>
            </a:r>
            <a:endParaRPr lang="en-US" sz="1600" dirty="0"/>
          </a:p>
        </p:txBody>
      </p:sp>
      <p:sp>
        <p:nvSpPr>
          <p:cNvPr id="28" name="Text 25"/>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5A08F"/>
                </a:solidFill>
                <a:latin typeface="Calibri" pitchFamily="34" charset="0"/>
                <a:ea typeface="Calibri" pitchFamily="34" charset="-122"/>
                <a:cs typeface="Calibri" pitchFamily="34" charset="-120"/>
              </a:rPr>
              <a:t>Advance · Justificación técnica de la plataforma de informes</a:t>
            </a:r>
            <a:endParaRPr lang="en-US" sz="900" dirty="0"/>
          </a:p>
        </p:txBody>
      </p:sp>
      <p:sp>
        <p:nvSpPr>
          <p:cNvPr id="29" name="Text 26"/>
          <p:cNvSpPr/>
          <p:nvPr/>
        </p:nvSpPr>
        <p:spPr>
          <a:xfrm>
            <a:off x="11365992" y="6510528"/>
            <a:ext cx="365760" cy="274320"/>
          </a:xfrm>
          <a:prstGeom prst="rect">
            <a:avLst/>
          </a:prstGeom>
          <a:noFill/>
          <a:ln/>
        </p:spPr>
        <p:txBody>
          <a:bodyPr wrap="square" lIns="0" tIns="0" rIns="0" bIns="0" rtlCol="0" anchor="ctr"/>
          <a:lstStyle/>
          <a:p>
            <a:pPr algn="r" indent="0" marL="0">
              <a:buNone/>
            </a:pPr>
            <a:r>
              <a:rPr lang="en-US" sz="900" dirty="0">
                <a:solidFill>
                  <a:srgbClr val="85A08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515600" cy="292608"/>
          </a:xfrm>
          <a:prstGeom prst="rect">
            <a:avLst/>
          </a:prstGeom>
          <a:noFill/>
          <a:ln/>
        </p:spPr>
        <p:txBody>
          <a:bodyPr wrap="square" lIns="0" tIns="0" rIns="0" bIns="0" rtlCol="0" anchor="ctr"/>
          <a:lstStyle/>
          <a:p>
            <a:pPr indent="0" marL="0">
              <a:buNone/>
            </a:pPr>
            <a:r>
              <a:rPr lang="en-US" sz="1200" b="1" spc="200" kern="0" dirty="0">
                <a:solidFill>
                  <a:srgbClr val="15803D"/>
                </a:solidFill>
                <a:latin typeface="Calibri" pitchFamily="34" charset="0"/>
                <a:ea typeface="Calibri" pitchFamily="34" charset="-122"/>
                <a:cs typeface="Calibri" pitchFamily="34" charset="-120"/>
              </a:rPr>
              <a:t>PRINCIPIO 3</a:t>
            </a:r>
            <a:endParaRPr lang="en-US" sz="1200" dirty="0"/>
          </a:p>
        </p:txBody>
      </p:sp>
      <p:sp>
        <p:nvSpPr>
          <p:cNvPr id="3" name="Text 1"/>
          <p:cNvSpPr/>
          <p:nvPr/>
        </p:nvSpPr>
        <p:spPr>
          <a:xfrm>
            <a:off x="502920" y="658368"/>
            <a:ext cx="10424160" cy="658368"/>
          </a:xfrm>
          <a:prstGeom prst="rect">
            <a:avLst/>
          </a:prstGeom>
          <a:noFill/>
          <a:ln/>
        </p:spPr>
        <p:txBody>
          <a:bodyPr wrap="square" lIns="0" tIns="0" rIns="0" bIns="0" rtlCol="0" anchor="ctr"/>
          <a:lstStyle/>
          <a:p>
            <a:pPr indent="0" marL="0">
              <a:buNone/>
            </a:pPr>
            <a:r>
              <a:rPr lang="en-US" sz="3000" b="1" dirty="0">
                <a:solidFill>
                  <a:srgbClr val="10261C"/>
                </a:solidFill>
                <a:latin typeface="Calibri" pitchFamily="34" charset="0"/>
                <a:ea typeface="Calibri" pitchFamily="34" charset="-122"/>
                <a:cs typeface="Calibri" pitchFamily="34" charset="-120"/>
              </a:rPr>
              <a:t>Seguro por diseño, con costo cero</a:t>
            </a:r>
            <a:endParaRPr lang="en-US" sz="3000" dirty="0"/>
          </a:p>
        </p:txBody>
      </p:sp>
      <p:pic>
        <p:nvPicPr>
          <p:cNvPr id="4" name="Image 0" descr="isotipo-green.png">    </p:cNvPr>
          <p:cNvPicPr>
            <a:picLocks noChangeAspect="1"/>
          </p:cNvPicPr>
          <p:nvPr/>
        </p:nvPicPr>
        <p:blipFill>
          <a:blip r:embed="rId1">
            <a:alphaModFix amt="80000"/>
          </a:blip>
          <a:stretch>
            <a:fillRect/>
          </a:stretch>
        </p:blipFill>
        <p:spPr>
          <a:xfrm>
            <a:off x="11228832" y="384048"/>
            <a:ext cx="457200" cy="498348"/>
          </a:xfrm>
          <a:prstGeom prst="rect">
            <a:avLst/>
          </a:prstGeom>
        </p:spPr>
      </p:pic>
      <p:sp>
        <p:nvSpPr>
          <p:cNvPr id="5" name="Shape 2"/>
          <p:cNvSpPr/>
          <p:nvPr/>
        </p:nvSpPr>
        <p:spPr>
          <a:xfrm>
            <a:off x="502920" y="1691640"/>
            <a:ext cx="5486400" cy="4114800"/>
          </a:xfrm>
          <a:prstGeom prst="roundRect">
            <a:avLst>
              <a:gd name="adj" fmla="val 2000"/>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6" name="Shape 3"/>
          <p:cNvSpPr/>
          <p:nvPr/>
        </p:nvSpPr>
        <p:spPr>
          <a:xfrm>
            <a:off x="758952" y="1929384"/>
            <a:ext cx="530352" cy="530352"/>
          </a:xfrm>
          <a:prstGeom prst="ellipse">
            <a:avLst/>
          </a:prstGeom>
          <a:solidFill>
            <a:srgbClr val="0F5132"/>
          </a:solidFill>
          <a:ln/>
        </p:spPr>
      </p:sp>
      <p:pic>
        <p:nvPicPr>
          <p:cNvPr id="7" name="Image 1" descr="ic-shield-w.png">    </p:cNvPr>
          <p:cNvPicPr>
            <a:picLocks noChangeAspect="1"/>
          </p:cNvPicPr>
          <p:nvPr/>
        </p:nvPicPr>
        <p:blipFill>
          <a:blip r:embed="rId2"/>
          <a:stretch>
            <a:fillRect/>
          </a:stretch>
        </p:blipFill>
        <p:spPr>
          <a:xfrm>
            <a:off x="877824" y="2048256"/>
            <a:ext cx="292608" cy="292608"/>
          </a:xfrm>
          <a:prstGeom prst="rect">
            <a:avLst/>
          </a:prstGeom>
        </p:spPr>
      </p:pic>
      <p:sp>
        <p:nvSpPr>
          <p:cNvPr id="8" name="Text 4"/>
          <p:cNvSpPr/>
          <p:nvPr/>
        </p:nvSpPr>
        <p:spPr>
          <a:xfrm>
            <a:off x="1417320" y="1929384"/>
            <a:ext cx="2743200" cy="530352"/>
          </a:xfrm>
          <a:prstGeom prst="rect">
            <a:avLst/>
          </a:prstGeom>
          <a:noFill/>
          <a:ln/>
        </p:spPr>
        <p:txBody>
          <a:bodyPr wrap="square" lIns="0" tIns="0" rIns="0" bIns="0" rtlCol="0" anchor="ctr"/>
          <a:lstStyle/>
          <a:p>
            <a:pPr indent="0" marL="0">
              <a:buNone/>
            </a:pPr>
            <a:r>
              <a:rPr lang="en-US" sz="1800" b="1" dirty="0">
                <a:solidFill>
                  <a:srgbClr val="10261C"/>
                </a:solidFill>
                <a:latin typeface="Calibri" pitchFamily="34" charset="0"/>
                <a:ea typeface="Calibri" pitchFamily="34" charset="-122"/>
                <a:cs typeface="Calibri" pitchFamily="34" charset="-120"/>
              </a:rPr>
              <a:t>Seguridad</a:t>
            </a:r>
            <a:endParaRPr lang="en-US" sz="1800" dirty="0"/>
          </a:p>
        </p:txBody>
      </p:sp>
      <p:sp>
        <p:nvSpPr>
          <p:cNvPr id="9" name="Text 5"/>
          <p:cNvSpPr/>
          <p:nvPr/>
        </p:nvSpPr>
        <p:spPr>
          <a:xfrm>
            <a:off x="795528" y="2651760"/>
            <a:ext cx="4901184" cy="292608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4C6053"/>
                </a:solidFill>
                <a:latin typeface="Calibri" pitchFamily="34" charset="0"/>
                <a:ea typeface="Calibri" pitchFamily="34" charset="-122"/>
                <a:cs typeface="Calibri" pitchFamily="34" charset="-120"/>
              </a:rPr>
              <a:t>Las API keys viven únicamente como GitHub Secrets: nunca se escriben en el HTML, el código ni los logs.</a:t>
            </a:r>
            <a:endParaRPr lang="en-US" sz="1250" dirty="0"/>
          </a:p>
          <a:p>
            <a:pPr marL="342900" indent="-342900">
              <a:spcAft>
                <a:spcPts val="1000"/>
              </a:spcAft>
              <a:buSzPct val="100000"/>
              <a:buChar char="•"/>
            </a:pPr>
            <a:r>
              <a:rPr lang="en-US" sz="1250" dirty="0">
                <a:solidFill>
                  <a:srgbClr val="4C6053"/>
                </a:solidFill>
                <a:latin typeface="Calibri" pitchFamily="34" charset="0"/>
                <a:ea typeface="Calibri" pitchFamily="34" charset="-122"/>
                <a:cs typeface="Calibri" pitchFamily="34" charset="-120"/>
              </a:rPr>
              <a:t>El navegador del cliente recibe solo HTML estático con Chart.js: no hay endpoints, sesiones ni base de datos que atacar.</a:t>
            </a:r>
            <a:endParaRPr lang="en-US" sz="1250" dirty="0"/>
          </a:p>
          <a:p>
            <a:pPr marL="342900" indent="-342900">
              <a:spcAft>
                <a:spcPts val="1000"/>
              </a:spcAft>
              <a:buSzPct val="100000"/>
              <a:buChar char="•"/>
            </a:pPr>
            <a:r>
              <a:rPr lang="en-US" sz="1250" dirty="0">
                <a:solidFill>
                  <a:srgbClr val="4C6053"/>
                </a:solidFill>
                <a:latin typeface="Calibri" pitchFamily="34" charset="0"/>
                <a:ea typeface="Calibri" pitchFamily="34" charset="-122"/>
                <a:cs typeface="Calibri" pitchFamily="34" charset="-120"/>
              </a:rPr>
              <a:t>Sin servidor propio no hay parches pendientes, certificados vencidos ni respaldos que administrar.</a:t>
            </a:r>
            <a:endParaRPr lang="en-US" sz="1250" dirty="0"/>
          </a:p>
          <a:p>
            <a:pPr marL="342900" indent="-342900">
              <a:spcAft>
                <a:spcPts val="1000"/>
              </a:spcAft>
              <a:buSzPct val="100000"/>
              <a:buChar char="•"/>
            </a:pPr>
            <a:r>
              <a:rPr lang="en-US" sz="1250" dirty="0">
                <a:solidFill>
                  <a:srgbClr val="4C6053"/>
                </a:solidFill>
                <a:latin typeface="Calibri" pitchFamily="34" charset="0"/>
                <a:ea typeface="Calibri" pitchFamily="34" charset="-122"/>
                <a:cs typeface="Calibri" pitchFamily="34" charset="-120"/>
              </a:rPr>
              <a:t>El repositorio es privado; lo único público es el informe ya generado, sin credenciales dentro.</a:t>
            </a:r>
            <a:endParaRPr lang="en-US" sz="1250" dirty="0"/>
          </a:p>
        </p:txBody>
      </p:sp>
      <p:sp>
        <p:nvSpPr>
          <p:cNvPr id="10" name="Shape 6"/>
          <p:cNvSpPr/>
          <p:nvPr/>
        </p:nvSpPr>
        <p:spPr>
          <a:xfrm>
            <a:off x="6263640" y="1691640"/>
            <a:ext cx="5440680" cy="2377440"/>
          </a:xfrm>
          <a:prstGeom prst="roundRect">
            <a:avLst>
              <a:gd name="adj" fmla="val 3462"/>
            </a:avLst>
          </a:prstGeom>
          <a:solidFill>
            <a:srgbClr val="0F5132"/>
          </a:solidFill>
          <a:ln/>
          <a:effectLst>
            <a:outerShdw sx="100000" sy="100000" kx="0" ky="0" algn="bl" rotWithShape="0" blurRad="127000" dist="38100" dir="5400000">
              <a:srgbClr val="104626">
                <a:alpha val="18000"/>
              </a:srgbClr>
            </a:outerShdw>
          </a:effectLst>
        </p:spPr>
      </p:sp>
      <p:sp>
        <p:nvSpPr>
          <p:cNvPr id="11" name="Text 7"/>
          <p:cNvSpPr/>
          <p:nvPr/>
        </p:nvSpPr>
        <p:spPr>
          <a:xfrm>
            <a:off x="6629400" y="1965960"/>
            <a:ext cx="4709160" cy="274320"/>
          </a:xfrm>
          <a:prstGeom prst="rect">
            <a:avLst/>
          </a:prstGeom>
          <a:noFill/>
          <a:ln/>
        </p:spPr>
        <p:txBody>
          <a:bodyPr wrap="square" lIns="0" tIns="0" rIns="0" bIns="0" rtlCol="0" anchor="ctr"/>
          <a:lstStyle/>
          <a:p>
            <a:pPr indent="0" marL="0">
              <a:buNone/>
            </a:pPr>
            <a:r>
              <a:rPr lang="en-US" sz="1150" b="1" spc="200" kern="0" dirty="0">
                <a:solidFill>
                  <a:srgbClr val="6EE7B7"/>
                </a:solidFill>
                <a:latin typeface="Calibri" pitchFamily="34" charset="0"/>
                <a:ea typeface="Calibri" pitchFamily="34" charset="-122"/>
                <a:cs typeface="Calibri" pitchFamily="34" charset="-120"/>
              </a:rPr>
              <a:t>INFRAESTRUCTURA Y LICENCIAS</a:t>
            </a:r>
            <a:endParaRPr lang="en-US" sz="1150" dirty="0"/>
          </a:p>
        </p:txBody>
      </p:sp>
      <p:sp>
        <p:nvSpPr>
          <p:cNvPr id="12" name="Text 8"/>
          <p:cNvSpPr/>
          <p:nvPr/>
        </p:nvSpPr>
        <p:spPr>
          <a:xfrm>
            <a:off x="6629400" y="2258568"/>
            <a:ext cx="4709160" cy="1143000"/>
          </a:xfrm>
          <a:prstGeom prst="rect">
            <a:avLst/>
          </a:prstGeom>
          <a:noFill/>
          <a:ln/>
        </p:spPr>
        <p:txBody>
          <a:bodyPr wrap="square" lIns="0" tIns="0" rIns="0" bIns="0" rtlCol="0" anchor="ctr"/>
          <a:lstStyle/>
          <a:p>
            <a:pPr indent="0" marL="0">
              <a:buNone/>
            </a:pPr>
            <a:r>
              <a:rPr lang="en-US" sz="6600" b="1" dirty="0">
                <a:solidFill>
                  <a:srgbClr val="FFFFFF"/>
                </a:solidFill>
                <a:latin typeface="Calibri" pitchFamily="34" charset="0"/>
                <a:ea typeface="Calibri" pitchFamily="34" charset="-122"/>
                <a:cs typeface="Calibri" pitchFamily="34" charset="-120"/>
              </a:rPr>
              <a:t>$0</a:t>
            </a:r>
            <a:pPr indent="0" marL="0">
              <a:buNone/>
            </a:pPr>
            <a:r>
              <a:rPr lang="en-US" sz="2200" dirty="0">
                <a:solidFill>
                  <a:srgbClr val="CFE8D8"/>
                </a:solidFill>
                <a:latin typeface="Calibri" pitchFamily="34" charset="0"/>
                <a:ea typeface="Calibri" pitchFamily="34" charset="-122"/>
                <a:cs typeface="Calibri" pitchFamily="34" charset="-120"/>
              </a:rPr>
              <a:t> / mes</a:t>
            </a:r>
            <a:endParaRPr lang="en-US" sz="6600" dirty="0"/>
          </a:p>
        </p:txBody>
      </p:sp>
      <p:sp>
        <p:nvSpPr>
          <p:cNvPr id="13" name="Text 9"/>
          <p:cNvSpPr/>
          <p:nvPr/>
        </p:nvSpPr>
        <p:spPr>
          <a:xfrm>
            <a:off x="6629400" y="3474720"/>
            <a:ext cx="4709160" cy="548640"/>
          </a:xfrm>
          <a:prstGeom prst="rect">
            <a:avLst/>
          </a:prstGeom>
          <a:noFill/>
          <a:ln/>
        </p:spPr>
        <p:txBody>
          <a:bodyPr wrap="square" lIns="0" tIns="0" rIns="0" bIns="0" rtlCol="0" anchor="ctr"/>
          <a:lstStyle/>
          <a:p>
            <a:pPr indent="0" marL="0">
              <a:lnSpc>
                <a:spcPts val="1500"/>
              </a:lnSpc>
              <a:buNone/>
            </a:pPr>
            <a:r>
              <a:rPr lang="en-US" sz="1200" dirty="0">
                <a:solidFill>
                  <a:srgbClr val="CFE8D8"/>
                </a:solidFill>
                <a:latin typeface="Calibri" pitchFamily="34" charset="0"/>
                <a:ea typeface="Calibri" pitchFamily="34" charset="-122"/>
                <a:cs typeface="Calibri" pitchFamily="34" charset="-120"/>
              </a:rPr>
              <a:t>GitHub Actions y Netlify operan en capa gratuita a esta escala. Sin servidores, sin base de datos, sin licencias por usuario.</a:t>
            </a:r>
            <a:endParaRPr lang="en-US" sz="1200" dirty="0"/>
          </a:p>
        </p:txBody>
      </p:sp>
      <p:sp>
        <p:nvSpPr>
          <p:cNvPr id="14" name="Shape 10"/>
          <p:cNvSpPr/>
          <p:nvPr/>
        </p:nvSpPr>
        <p:spPr>
          <a:xfrm>
            <a:off x="6263640" y="4297680"/>
            <a:ext cx="5440680" cy="1508760"/>
          </a:xfrm>
          <a:prstGeom prst="roundRect">
            <a:avLst>
              <a:gd name="adj" fmla="val 5455"/>
            </a:avLst>
          </a:prstGeom>
          <a:solidFill>
            <a:srgbClr val="E4F2DC"/>
          </a:solidFill>
          <a:ln w="12700">
            <a:solidFill>
              <a:srgbClr val="16A34A"/>
            </a:solidFill>
            <a:prstDash val="solid"/>
          </a:ln>
          <a:effectLst>
            <a:outerShdw sx="100000" sy="100000" kx="0" ky="0" algn="bl" rotWithShape="0" blurRad="127000" dist="38100" dir="5400000">
              <a:srgbClr val="104626">
                <a:alpha val="18000"/>
              </a:srgbClr>
            </a:outerShdw>
          </a:effectLst>
        </p:spPr>
      </p:sp>
      <p:sp>
        <p:nvSpPr>
          <p:cNvPr id="15" name="Text 11"/>
          <p:cNvSpPr/>
          <p:nvPr/>
        </p:nvSpPr>
        <p:spPr>
          <a:xfrm>
            <a:off x="6583680" y="4297680"/>
            <a:ext cx="4800600" cy="1508760"/>
          </a:xfrm>
          <a:prstGeom prst="rect">
            <a:avLst/>
          </a:prstGeom>
          <a:noFill/>
          <a:ln/>
        </p:spPr>
        <p:txBody>
          <a:bodyPr wrap="square" lIns="0" tIns="0" rIns="0" bIns="0" rtlCol="0" anchor="ctr"/>
          <a:lstStyle/>
          <a:p>
            <a:pPr indent="0" marL="0">
              <a:lnSpc>
                <a:spcPts val="1800"/>
              </a:lnSpc>
              <a:buNone/>
            </a:pPr>
            <a:r>
              <a:rPr lang="en-US" sz="1350" b="1" dirty="0">
                <a:solidFill>
                  <a:srgbClr val="0F5132"/>
                </a:solidFill>
                <a:latin typeface="Calibri" pitchFamily="34" charset="0"/>
                <a:ea typeface="Calibri" pitchFamily="34" charset="-122"/>
                <a:cs typeface="Calibri" pitchFamily="34" charset="-120"/>
              </a:rPr>
              <a:t>El costo real es el tiempo de análisis, </a:t>
            </a:r>
            <a:pPr indent="0" marL="0">
              <a:lnSpc>
                <a:spcPts val="1800"/>
              </a:lnSpc>
              <a:buNone/>
            </a:pPr>
            <a:r>
              <a:rPr lang="en-US" sz="1350" dirty="0">
                <a:solidFill>
                  <a:srgbClr val="4C6053"/>
                </a:solidFill>
                <a:latin typeface="Calibri" pitchFamily="34" charset="0"/>
                <a:ea typeface="Calibri" pitchFamily="34" charset="-122"/>
                <a:cs typeface="Calibri" pitchFamily="34" charset="-120"/>
              </a:rPr>
              <a:t>exactamente donde queremos invertir: mejores KPIs, mejores comparativas, mejor historia para el cliente — no administración de servidores.</a:t>
            </a:r>
            <a:endParaRPr lang="en-US" sz="1350" dirty="0"/>
          </a:p>
        </p:txBody>
      </p:sp>
      <p:sp>
        <p:nvSpPr>
          <p:cNvPr id="16" name="Text 12"/>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5A08F"/>
                </a:solidFill>
                <a:latin typeface="Calibri" pitchFamily="34" charset="0"/>
                <a:ea typeface="Calibri" pitchFamily="34" charset="-122"/>
                <a:cs typeface="Calibri" pitchFamily="34" charset="-120"/>
              </a:rPr>
              <a:t>Advance · Justificación técnica de la plataforma de informes</a:t>
            </a:r>
            <a:endParaRPr lang="en-US" sz="900" dirty="0"/>
          </a:p>
        </p:txBody>
      </p:sp>
      <p:sp>
        <p:nvSpPr>
          <p:cNvPr id="17" name="Text 13"/>
          <p:cNvSpPr/>
          <p:nvPr/>
        </p:nvSpPr>
        <p:spPr>
          <a:xfrm>
            <a:off x="11365992" y="6510528"/>
            <a:ext cx="365760" cy="274320"/>
          </a:xfrm>
          <a:prstGeom prst="rect">
            <a:avLst/>
          </a:prstGeom>
          <a:noFill/>
          <a:ln/>
        </p:spPr>
        <p:txBody>
          <a:bodyPr wrap="square" lIns="0" tIns="0" rIns="0" bIns="0" rtlCol="0" anchor="ctr"/>
          <a:lstStyle/>
          <a:p>
            <a:pPr algn="r" indent="0" marL="0">
              <a:buNone/>
            </a:pPr>
            <a:r>
              <a:rPr lang="en-US" sz="900" dirty="0">
                <a:solidFill>
                  <a:srgbClr val="85A08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515600" cy="292608"/>
          </a:xfrm>
          <a:prstGeom prst="rect">
            <a:avLst/>
          </a:prstGeom>
          <a:noFill/>
          <a:ln/>
        </p:spPr>
        <p:txBody>
          <a:bodyPr wrap="square" lIns="0" tIns="0" rIns="0" bIns="0" rtlCol="0" anchor="ctr"/>
          <a:lstStyle/>
          <a:p>
            <a:pPr indent="0" marL="0">
              <a:buNone/>
            </a:pPr>
            <a:r>
              <a:rPr lang="en-US" sz="1200" b="1" spc="200" kern="0" dirty="0">
                <a:solidFill>
                  <a:srgbClr val="15803D"/>
                </a:solidFill>
                <a:latin typeface="Calibri" pitchFamily="34" charset="0"/>
                <a:ea typeface="Calibri" pitchFamily="34" charset="-122"/>
                <a:cs typeface="Calibri" pitchFamily="34" charset="-120"/>
              </a:rPr>
              <a:t>ALTERNATIVAS EVALUADAS</a:t>
            </a:r>
            <a:endParaRPr lang="en-US" sz="1200" dirty="0"/>
          </a:p>
        </p:txBody>
      </p:sp>
      <p:sp>
        <p:nvSpPr>
          <p:cNvPr id="3" name="Text 1"/>
          <p:cNvSpPr/>
          <p:nvPr/>
        </p:nvSpPr>
        <p:spPr>
          <a:xfrm>
            <a:off x="502920" y="658368"/>
            <a:ext cx="10424160" cy="658368"/>
          </a:xfrm>
          <a:prstGeom prst="rect">
            <a:avLst/>
          </a:prstGeom>
          <a:noFill/>
          <a:ln/>
        </p:spPr>
        <p:txBody>
          <a:bodyPr wrap="square" lIns="0" tIns="0" rIns="0" bIns="0" rtlCol="0" anchor="ctr"/>
          <a:lstStyle/>
          <a:p>
            <a:pPr indent="0" marL="0">
              <a:buNone/>
            </a:pPr>
            <a:r>
              <a:rPr lang="en-US" sz="3000" b="1" dirty="0">
                <a:solidFill>
                  <a:srgbClr val="10261C"/>
                </a:solidFill>
                <a:latin typeface="Calibri" pitchFamily="34" charset="0"/>
                <a:ea typeface="Calibri" pitchFamily="34" charset="-122"/>
                <a:cs typeface="Calibri" pitchFamily="34" charset="-120"/>
              </a:rPr>
              <a:t>Frente a los otros caminos</a:t>
            </a:r>
            <a:endParaRPr lang="en-US" sz="3000" dirty="0"/>
          </a:p>
        </p:txBody>
      </p:sp>
      <p:pic>
        <p:nvPicPr>
          <p:cNvPr id="4" name="Image 0" descr="isotipo-green.png">    </p:cNvPr>
          <p:cNvPicPr>
            <a:picLocks noChangeAspect="1"/>
          </p:cNvPicPr>
          <p:nvPr/>
        </p:nvPicPr>
        <p:blipFill>
          <a:blip r:embed="rId1">
            <a:alphaModFix amt="80000"/>
          </a:blip>
          <a:stretch>
            <a:fillRect/>
          </a:stretch>
        </p:blipFill>
        <p:spPr>
          <a:xfrm>
            <a:off x="11228832" y="384048"/>
            <a:ext cx="457200" cy="498348"/>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3112" cy="914400"/>
        </p:xfrm>
        <a:graphic>
          <a:graphicData uri="http://schemas.openxmlformats.org/drawingml/2006/table">
            <a:tbl>
              <a:tblPr/>
              <a:tblGrid>
                <a:gridCol w="2148840"/>
                <a:gridCol w="2889504"/>
                <a:gridCol w="3072384"/>
                <a:gridCol w="3072384"/>
              </a:tblGrid>
              <a:tr h="45720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Criterio</a:t>
                      </a:r>
                      <a:endParaRPr lang="en-US" sz="125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0F513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App web + backend</a:t>
                      </a:r>
                      <a:endParaRPr lang="en-US" sz="125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0F513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BI SaaS (Power BI / Tableau)</a:t>
                      </a:r>
                      <a:endParaRPr lang="en-US" sz="125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0F5132"/>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Camino elegido</a:t>
                      </a:r>
                      <a:endParaRPr lang="en-US" sz="125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15803D"/>
                    </a:solidFill>
                  </a:tcPr>
                </a:tc>
              </a:tr>
              <a:tr h="566928">
                <a:tc>
                  <a:txBody>
                    <a:bodyPr/>
                    <a:lstStyle/>
                    <a:p>
                      <a:pPr indent="0" marL="0">
                        <a:buNone/>
                      </a:pPr>
                      <a:r>
                        <a:rPr lang="en-US" sz="1150" b="1" dirty="0">
                          <a:solidFill>
                            <a:srgbClr val="10261C"/>
                          </a:solidFill>
                          <a:latin typeface="Calibri" pitchFamily="34" charset="0"/>
                          <a:ea typeface="Calibri" pitchFamily="34" charset="-122"/>
                          <a:cs typeface="Calibri" pitchFamily="34" charset="-120"/>
                        </a:rPr>
                        <a:t>Tiempo a producción</a:t>
                      </a:r>
                      <a:endParaRPr lang="en-US" sz="115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F0F7EA"/>
                    </a:solidFill>
                  </a:tcPr>
                </a:tc>
                <a:tc>
                  <a:txBody>
                    <a:bodyPr/>
                    <a:lstStyle/>
                    <a:p>
                      <a:pPr indent="0" marL="0">
                        <a:buNone/>
                      </a:pPr>
                      <a:r>
                        <a:rPr lang="en-US" sz="1100" dirty="0">
                          <a:solidFill>
                            <a:srgbClr val="4C6053"/>
                          </a:solidFill>
                          <a:latin typeface="Calibri" pitchFamily="34" charset="0"/>
                          <a:ea typeface="Calibri" pitchFamily="34" charset="-122"/>
                          <a:cs typeface="Calibri" pitchFamily="34" charset="-120"/>
                        </a:rPr>
                        <a:t>Meses de desarrollo</a:t>
                      </a:r>
                      <a:endParaRPr lang="en-US" sz="110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FFFFFF"/>
                    </a:solidFill>
                  </a:tcPr>
                </a:tc>
                <a:tc>
                  <a:txBody>
                    <a:bodyPr/>
                    <a:lstStyle/>
                    <a:p>
                      <a:pPr indent="0" marL="0">
                        <a:buNone/>
                      </a:pPr>
                      <a:r>
                        <a:rPr lang="en-US" sz="1100" dirty="0">
                          <a:solidFill>
                            <a:srgbClr val="4C6053"/>
                          </a:solidFill>
                          <a:latin typeface="Calibri" pitchFamily="34" charset="0"/>
                          <a:ea typeface="Calibri" pitchFamily="34" charset="-122"/>
                          <a:cs typeface="Calibri" pitchFamily="34" charset="-120"/>
                        </a:rPr>
                        <a:t>Semanas de modelado y setup</a:t>
                      </a:r>
                      <a:endParaRPr lang="en-US" sz="110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FFFFFF"/>
                    </a:solidFill>
                  </a:tcPr>
                </a:tc>
                <a:tc>
                  <a:txBody>
                    <a:bodyPr/>
                    <a:lstStyle/>
                    <a:p>
                      <a:pPr indent="0" marL="0">
                        <a:buNone/>
                      </a:pPr>
                      <a:r>
                        <a:rPr lang="en-US" sz="1100" b="1" dirty="0">
                          <a:solidFill>
                            <a:srgbClr val="0F5132"/>
                          </a:solidFill>
                          <a:latin typeface="Calibri" pitchFamily="34" charset="0"/>
                          <a:ea typeface="Calibri" pitchFamily="34" charset="-122"/>
                          <a:cs typeface="Calibri" pitchFamily="34" charset="-120"/>
                        </a:rPr>
                        <a:t>Días — ya está en producción</a:t>
                      </a:r>
                      <a:endParaRPr lang="en-US" sz="110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E4F2DC"/>
                    </a:solidFill>
                  </a:tcPr>
                </a:tc>
              </a:tr>
              <a:tr h="566928">
                <a:tc>
                  <a:txBody>
                    <a:bodyPr/>
                    <a:lstStyle/>
                    <a:p>
                      <a:pPr indent="0" marL="0">
                        <a:buNone/>
                      </a:pPr>
                      <a:r>
                        <a:rPr lang="en-US" sz="1150" b="1" dirty="0">
                          <a:solidFill>
                            <a:srgbClr val="10261C"/>
                          </a:solidFill>
                          <a:latin typeface="Calibri" pitchFamily="34" charset="0"/>
                          <a:ea typeface="Calibri" pitchFamily="34" charset="-122"/>
                          <a:cs typeface="Calibri" pitchFamily="34" charset="-120"/>
                        </a:rPr>
                        <a:t>Costo recurrente</a:t>
                      </a:r>
                      <a:endParaRPr lang="en-US" sz="115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F0F7EA"/>
                    </a:solidFill>
                  </a:tcPr>
                </a:tc>
                <a:tc>
                  <a:txBody>
                    <a:bodyPr/>
                    <a:lstStyle/>
                    <a:p>
                      <a:pPr indent="0" marL="0">
                        <a:buNone/>
                      </a:pPr>
                      <a:r>
                        <a:rPr lang="en-US" sz="1100" dirty="0">
                          <a:solidFill>
                            <a:srgbClr val="4C6053"/>
                          </a:solidFill>
                          <a:latin typeface="Calibri" pitchFamily="34" charset="0"/>
                          <a:ea typeface="Calibri" pitchFamily="34" charset="-122"/>
                          <a:cs typeface="Calibri" pitchFamily="34" charset="-120"/>
                        </a:rPr>
                        <a:t>Servidor + BD + mantenimiento</a:t>
                      </a:r>
                      <a:endParaRPr lang="en-US" sz="110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FFFFFF"/>
                    </a:solidFill>
                  </a:tcPr>
                </a:tc>
                <a:tc>
                  <a:txBody>
                    <a:bodyPr/>
                    <a:lstStyle/>
                    <a:p>
                      <a:pPr indent="0" marL="0">
                        <a:buNone/>
                      </a:pPr>
                      <a:r>
                        <a:rPr lang="en-US" sz="1100" dirty="0">
                          <a:solidFill>
                            <a:srgbClr val="4C6053"/>
                          </a:solidFill>
                          <a:latin typeface="Calibri" pitchFamily="34" charset="0"/>
                          <a:ea typeface="Calibri" pitchFamily="34" charset="-122"/>
                          <a:cs typeface="Calibri" pitchFamily="34" charset="-120"/>
                        </a:rPr>
                        <a:t>Licencia por usuario o visor</a:t>
                      </a:r>
                      <a:endParaRPr lang="en-US" sz="110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FFFFFF"/>
                    </a:solidFill>
                  </a:tcPr>
                </a:tc>
                <a:tc>
                  <a:txBody>
                    <a:bodyPr/>
                    <a:lstStyle/>
                    <a:p>
                      <a:pPr indent="0" marL="0">
                        <a:buNone/>
                      </a:pPr>
                      <a:r>
                        <a:rPr lang="en-US" sz="1100" b="1" dirty="0">
                          <a:solidFill>
                            <a:srgbClr val="0F5132"/>
                          </a:solidFill>
                          <a:latin typeface="Calibri" pitchFamily="34" charset="0"/>
                          <a:ea typeface="Calibri" pitchFamily="34" charset="-122"/>
                          <a:cs typeface="Calibri" pitchFamily="34" charset="-120"/>
                        </a:rPr>
                        <a:t>$0 de infraestructura</a:t>
                      </a:r>
                      <a:endParaRPr lang="en-US" sz="110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E4F2DC"/>
                    </a:solidFill>
                  </a:tcPr>
                </a:tc>
              </a:tr>
              <a:tr h="566928">
                <a:tc>
                  <a:txBody>
                    <a:bodyPr/>
                    <a:lstStyle/>
                    <a:p>
                      <a:pPr indent="0" marL="0">
                        <a:buNone/>
                      </a:pPr>
                      <a:r>
                        <a:rPr lang="en-US" sz="1150" b="1" dirty="0">
                          <a:solidFill>
                            <a:srgbClr val="10261C"/>
                          </a:solidFill>
                          <a:latin typeface="Calibri" pitchFamily="34" charset="0"/>
                          <a:ea typeface="Calibri" pitchFamily="34" charset="-122"/>
                          <a:cs typeface="Calibri" pitchFamily="34" charset="-120"/>
                        </a:rPr>
                        <a:t>Alta de un cliente</a:t>
                      </a:r>
                      <a:endParaRPr lang="en-US" sz="115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F0F7EA"/>
                    </a:solidFill>
                  </a:tcPr>
                </a:tc>
                <a:tc>
                  <a:txBody>
                    <a:bodyPr/>
                    <a:lstStyle/>
                    <a:p>
                      <a:pPr indent="0" marL="0">
                        <a:buNone/>
                      </a:pPr>
                      <a:r>
                        <a:rPr lang="en-US" sz="1100" dirty="0">
                          <a:solidFill>
                            <a:srgbClr val="4C6053"/>
                          </a:solidFill>
                          <a:latin typeface="Calibri" pitchFamily="34" charset="0"/>
                          <a:ea typeface="Calibri" pitchFamily="34" charset="-122"/>
                          <a:cs typeface="Calibri" pitchFamily="34" charset="-120"/>
                        </a:rPr>
                        <a:t>Desarrollo y configuración</a:t>
                      </a:r>
                      <a:endParaRPr lang="en-US" sz="110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FFFFFF"/>
                    </a:solidFill>
                  </a:tcPr>
                </a:tc>
                <a:tc>
                  <a:txBody>
                    <a:bodyPr/>
                    <a:lstStyle/>
                    <a:p>
                      <a:pPr indent="0" marL="0">
                        <a:buNone/>
                      </a:pPr>
                      <a:r>
                        <a:rPr lang="en-US" sz="1100" dirty="0">
                          <a:solidFill>
                            <a:srgbClr val="4C6053"/>
                          </a:solidFill>
                          <a:latin typeface="Calibri" pitchFamily="34" charset="0"/>
                          <a:ea typeface="Calibri" pitchFamily="34" charset="-122"/>
                          <a:cs typeface="Calibri" pitchFamily="34" charset="-120"/>
                        </a:rPr>
                        <a:t>Modelado y permisos por cliente</a:t>
                      </a:r>
                      <a:endParaRPr lang="en-US" sz="110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FFFFFF"/>
                    </a:solidFill>
                  </a:tcPr>
                </a:tc>
                <a:tc>
                  <a:txBody>
                    <a:bodyPr/>
                    <a:lstStyle/>
                    <a:p>
                      <a:pPr indent="0" marL="0">
                        <a:buNone/>
                      </a:pPr>
                      <a:r>
                        <a:rPr lang="en-US" sz="1100" b="1" dirty="0">
                          <a:solidFill>
                            <a:srgbClr val="0F5132"/>
                          </a:solidFill>
                          <a:latin typeface="Calibri" pitchFamily="34" charset="0"/>
                          <a:ea typeface="Calibri" pitchFamily="34" charset="-122"/>
                          <a:cs typeface="Calibri" pitchFamily="34" charset="-120"/>
                        </a:rPr>
                        <a:t>1 secret + correr el workflow</a:t>
                      </a:r>
                      <a:endParaRPr lang="en-US" sz="110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E4F2DC"/>
                    </a:solidFill>
                  </a:tcPr>
                </a:tc>
              </a:tr>
              <a:tr h="566928">
                <a:tc>
                  <a:txBody>
                    <a:bodyPr/>
                    <a:lstStyle/>
                    <a:p>
                      <a:pPr indent="0" marL="0">
                        <a:buNone/>
                      </a:pPr>
                      <a:r>
                        <a:rPr lang="en-US" sz="1150" b="1" dirty="0">
                          <a:solidFill>
                            <a:srgbClr val="10261C"/>
                          </a:solidFill>
                          <a:latin typeface="Calibri" pitchFamily="34" charset="0"/>
                          <a:ea typeface="Calibri" pitchFamily="34" charset="-122"/>
                          <a:cs typeface="Calibri" pitchFamily="34" charset="-120"/>
                        </a:rPr>
                        <a:t>Identidad Advance</a:t>
                      </a:r>
                      <a:endParaRPr lang="en-US" sz="115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F0F7EA"/>
                    </a:solidFill>
                  </a:tcPr>
                </a:tc>
                <a:tc>
                  <a:txBody>
                    <a:bodyPr/>
                    <a:lstStyle/>
                    <a:p>
                      <a:pPr indent="0" marL="0">
                        <a:buNone/>
                      </a:pPr>
                      <a:r>
                        <a:rPr lang="en-US" sz="1100" dirty="0">
                          <a:solidFill>
                            <a:srgbClr val="4C6053"/>
                          </a:solidFill>
                          <a:latin typeface="Calibri" pitchFamily="34" charset="0"/>
                          <a:ea typeface="Calibri" pitchFamily="34" charset="-122"/>
                          <a:cs typeface="Calibri" pitchFamily="34" charset="-120"/>
                        </a:rPr>
                        <a:t>A la medida, pero con costo</a:t>
                      </a:r>
                      <a:endParaRPr lang="en-US" sz="110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FFFFFF"/>
                    </a:solidFill>
                  </a:tcPr>
                </a:tc>
                <a:tc>
                  <a:txBody>
                    <a:bodyPr/>
                    <a:lstStyle/>
                    <a:p>
                      <a:pPr indent="0" marL="0">
                        <a:buNone/>
                      </a:pPr>
                      <a:r>
                        <a:rPr lang="en-US" sz="1100" dirty="0">
                          <a:solidFill>
                            <a:srgbClr val="4C6053"/>
                          </a:solidFill>
                          <a:latin typeface="Calibri" pitchFamily="34" charset="0"/>
                          <a:ea typeface="Calibri" pitchFamily="34" charset="-122"/>
                          <a:cs typeface="Calibri" pitchFamily="34" charset="-120"/>
                        </a:rPr>
                        <a:t>Plantillas limitadas del tercero</a:t>
                      </a:r>
                      <a:endParaRPr lang="en-US" sz="110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FFFFFF"/>
                    </a:solidFill>
                  </a:tcPr>
                </a:tc>
                <a:tc>
                  <a:txBody>
                    <a:bodyPr/>
                    <a:lstStyle/>
                    <a:p>
                      <a:pPr indent="0" marL="0">
                        <a:buNone/>
                      </a:pPr>
                      <a:r>
                        <a:rPr lang="en-US" sz="1100" b="1" dirty="0">
                          <a:solidFill>
                            <a:srgbClr val="0F5132"/>
                          </a:solidFill>
                          <a:latin typeface="Calibri" pitchFamily="34" charset="0"/>
                          <a:ea typeface="Calibri" pitchFamily="34" charset="-122"/>
                          <a:cs typeface="Calibri" pitchFamily="34" charset="-120"/>
                        </a:rPr>
                        <a:t>100% diseño y marca propios</a:t>
                      </a:r>
                      <a:endParaRPr lang="en-US" sz="110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E4F2DC"/>
                    </a:solidFill>
                  </a:tcPr>
                </a:tc>
              </a:tr>
              <a:tr h="566928">
                <a:tc>
                  <a:txBody>
                    <a:bodyPr/>
                    <a:lstStyle/>
                    <a:p>
                      <a:pPr indent="0" marL="0">
                        <a:buNone/>
                      </a:pPr>
                      <a:r>
                        <a:rPr lang="en-US" sz="1150" b="1" dirty="0">
                          <a:solidFill>
                            <a:srgbClr val="10261C"/>
                          </a:solidFill>
                          <a:latin typeface="Calibri" pitchFamily="34" charset="0"/>
                          <a:ea typeface="Calibri" pitchFamily="34" charset="-122"/>
                          <a:cs typeface="Calibri" pitchFamily="34" charset="-120"/>
                        </a:rPr>
                        <a:t>Operación diaria</a:t>
                      </a:r>
                      <a:endParaRPr lang="en-US" sz="115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F0F7EA"/>
                    </a:solidFill>
                  </a:tcPr>
                </a:tc>
                <a:tc>
                  <a:txBody>
                    <a:bodyPr/>
                    <a:lstStyle/>
                    <a:p>
                      <a:pPr indent="0" marL="0">
                        <a:buNone/>
                      </a:pPr>
                      <a:r>
                        <a:rPr lang="en-US" sz="1100" dirty="0">
                          <a:solidFill>
                            <a:srgbClr val="4C6053"/>
                          </a:solidFill>
                          <a:latin typeface="Calibri" pitchFamily="34" charset="0"/>
                          <a:ea typeface="Calibri" pitchFamily="34" charset="-122"/>
                          <a:cs typeface="Calibri" pitchFamily="34" charset="-120"/>
                        </a:rPr>
                        <a:t>Guardias, parches, uptime</a:t>
                      </a:r>
                      <a:endParaRPr lang="en-US" sz="110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FFFFFF"/>
                    </a:solidFill>
                  </a:tcPr>
                </a:tc>
                <a:tc>
                  <a:txBody>
                    <a:bodyPr/>
                    <a:lstStyle/>
                    <a:p>
                      <a:pPr indent="0" marL="0">
                        <a:buNone/>
                      </a:pPr>
                      <a:r>
                        <a:rPr lang="en-US" sz="1100" dirty="0">
                          <a:solidFill>
                            <a:srgbClr val="4C6053"/>
                          </a:solidFill>
                          <a:latin typeface="Calibri" pitchFamily="34" charset="0"/>
                          <a:ea typeface="Calibri" pitchFamily="34" charset="-122"/>
                          <a:cs typeface="Calibri" pitchFamily="34" charset="-120"/>
                        </a:rPr>
                        <a:t>Dependencia del proveedor</a:t>
                      </a:r>
                      <a:endParaRPr lang="en-US" sz="110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FFFFFF"/>
                    </a:solidFill>
                  </a:tcPr>
                </a:tc>
                <a:tc>
                  <a:txBody>
                    <a:bodyPr/>
                    <a:lstStyle/>
                    <a:p>
                      <a:pPr indent="0" marL="0">
                        <a:buNone/>
                      </a:pPr>
                      <a:r>
                        <a:rPr lang="en-US" sz="1100" b="1" dirty="0">
                          <a:solidFill>
                            <a:srgbClr val="0F5132"/>
                          </a:solidFill>
                          <a:latin typeface="Calibri" pitchFamily="34" charset="0"/>
                          <a:ea typeface="Calibri" pitchFamily="34" charset="-122"/>
                          <a:cs typeface="Calibri" pitchFamily="34" charset="-120"/>
                        </a:rPr>
                        <a:t>Pipeline que se mantiene solo</a:t>
                      </a:r>
                      <a:endParaRPr lang="en-US" sz="110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E4F2DC"/>
                    </a:solidFill>
                  </a:tcPr>
                </a:tc>
              </a:tr>
              <a:tr h="566928">
                <a:tc>
                  <a:txBody>
                    <a:bodyPr/>
                    <a:lstStyle/>
                    <a:p>
                      <a:pPr indent="0" marL="0">
                        <a:buNone/>
                      </a:pPr>
                      <a:r>
                        <a:rPr lang="en-US" sz="1150" b="1" dirty="0">
                          <a:solidFill>
                            <a:srgbClr val="10261C"/>
                          </a:solidFill>
                          <a:latin typeface="Calibri" pitchFamily="34" charset="0"/>
                          <a:ea typeface="Calibri" pitchFamily="34" charset="-122"/>
                          <a:cs typeface="Calibri" pitchFamily="34" charset="-120"/>
                        </a:rPr>
                        <a:t>Custodia de API keys</a:t>
                      </a:r>
                      <a:endParaRPr lang="en-US" sz="115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F0F7EA"/>
                    </a:solidFill>
                  </a:tcPr>
                </a:tc>
                <a:tc>
                  <a:txBody>
                    <a:bodyPr/>
                    <a:lstStyle/>
                    <a:p>
                      <a:pPr indent="0" marL="0">
                        <a:buNone/>
                      </a:pPr>
                      <a:r>
                        <a:rPr lang="en-US" sz="1100" dirty="0">
                          <a:solidFill>
                            <a:srgbClr val="4C6053"/>
                          </a:solidFill>
                          <a:latin typeface="Calibri" pitchFamily="34" charset="0"/>
                          <a:ea typeface="Calibri" pitchFamily="34" charset="-122"/>
                          <a:cs typeface="Calibri" pitchFamily="34" charset="-120"/>
                        </a:rPr>
                        <a:t>BD propia que proteger</a:t>
                      </a:r>
                      <a:endParaRPr lang="en-US" sz="110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FFFFFF"/>
                    </a:solidFill>
                  </a:tcPr>
                </a:tc>
                <a:tc>
                  <a:txBody>
                    <a:bodyPr/>
                    <a:lstStyle/>
                    <a:p>
                      <a:pPr indent="0" marL="0">
                        <a:buNone/>
                      </a:pPr>
                      <a:r>
                        <a:rPr lang="en-US" sz="1100" dirty="0">
                          <a:solidFill>
                            <a:srgbClr val="4C6053"/>
                          </a:solidFill>
                          <a:latin typeface="Calibri" pitchFamily="34" charset="0"/>
                          <a:ea typeface="Calibri" pitchFamily="34" charset="-122"/>
                          <a:cs typeface="Calibri" pitchFamily="34" charset="-120"/>
                        </a:rPr>
                        <a:t>Credenciales en el tercero</a:t>
                      </a:r>
                      <a:endParaRPr lang="en-US" sz="110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FFFFFF"/>
                    </a:solidFill>
                  </a:tcPr>
                </a:tc>
                <a:tc>
                  <a:txBody>
                    <a:bodyPr/>
                    <a:lstStyle/>
                    <a:p>
                      <a:pPr indent="0" marL="0">
                        <a:buNone/>
                      </a:pPr>
                      <a:r>
                        <a:rPr lang="en-US" sz="1100" b="1" dirty="0">
                          <a:solidFill>
                            <a:srgbClr val="0F5132"/>
                          </a:solidFill>
                          <a:latin typeface="Calibri" pitchFamily="34" charset="0"/>
                          <a:ea typeface="Calibri" pitchFamily="34" charset="-122"/>
                          <a:cs typeface="Calibri" pitchFamily="34" charset="-120"/>
                        </a:rPr>
                        <a:t>Solo en GitHub Secrets</a:t>
                      </a:r>
                      <a:endParaRPr lang="en-US" sz="1100" dirty="0">
                        <a:latin typeface="Calibri" charset="0"/>
                        <a:ea typeface="Calibri" charset="0"/>
                        <a:cs typeface="Calibri" charset="0"/>
                      </a:endParaRPr>
                    </a:p>
                  </a:txBody>
                  <a:tcPr marL="91440" marR="91440" marT="54864" marB="54864" anchor="ctr">
                    <a:lnL w="9525" cap="flat" cmpd="sng" algn="ctr">
                      <a:solidFill>
                        <a:srgbClr val="DDEBD2"/>
                      </a:solidFill>
                      <a:prstDash val="solid"/>
                      <a:round/>
                      <a:headEnd type="none" w="med" len="med"/>
                      <a:tailEnd type="none" w="med" len="med"/>
                    </a:lnL>
                    <a:lnR w="9525" cap="flat" cmpd="sng" algn="ctr">
                      <a:solidFill>
                        <a:srgbClr val="DDEBD2"/>
                      </a:solidFill>
                      <a:prstDash val="solid"/>
                      <a:round/>
                      <a:headEnd type="none" w="med" len="med"/>
                      <a:tailEnd type="none" w="med" len="med"/>
                    </a:lnR>
                    <a:lnT w="9525" cap="flat" cmpd="sng" algn="ctr">
                      <a:solidFill>
                        <a:srgbClr val="DDEBD2"/>
                      </a:solidFill>
                      <a:prstDash val="solid"/>
                      <a:round/>
                      <a:headEnd type="none" w="med" len="med"/>
                      <a:tailEnd type="none" w="med" len="med"/>
                    </a:lnT>
                    <a:lnB w="9525" cap="flat" cmpd="sng" algn="ctr">
                      <a:solidFill>
                        <a:srgbClr val="DDEBD2"/>
                      </a:solidFill>
                      <a:prstDash val="solid"/>
                      <a:round/>
                      <a:headEnd type="none" w="med" len="med"/>
                      <a:tailEnd type="none" w="med" len="med"/>
                    </a:lnB>
                    <a:solidFill>
                      <a:srgbClr val="E4F2DC"/>
                    </a:solidFill>
                  </a:tcPr>
                </a:tc>
              </a:tr>
            </a:tbl>
          </a:graphicData>
        </a:graphic>
      </p:graphicFrame>
      <p:sp>
        <p:nvSpPr>
          <p:cNvPr id="6" name="Text 2"/>
          <p:cNvSpPr/>
          <p:nvPr/>
        </p:nvSpPr>
        <p:spPr>
          <a:xfrm>
            <a:off x="502920" y="5943600"/>
            <a:ext cx="11155680" cy="411480"/>
          </a:xfrm>
          <a:prstGeom prst="rect">
            <a:avLst/>
          </a:prstGeom>
          <a:noFill/>
          <a:ln/>
        </p:spPr>
        <p:txBody>
          <a:bodyPr wrap="square" lIns="0" tIns="0" rIns="0" bIns="0" rtlCol="0" anchor="ctr"/>
          <a:lstStyle/>
          <a:p>
            <a:pPr indent="0" marL="0">
              <a:buNone/>
            </a:pPr>
            <a:r>
              <a:rPr lang="en-US" sz="1250" i="1" dirty="0">
                <a:solidFill>
                  <a:srgbClr val="4C6053"/>
                </a:solidFill>
                <a:latin typeface="Calibri" pitchFamily="34" charset="0"/>
                <a:ea typeface="Calibri" pitchFamily="34" charset="-122"/>
                <a:cs typeface="Calibri" pitchFamily="34" charset="-120"/>
              </a:rPr>
              <a:t>No es que las alternativas sean malas: </a:t>
            </a:r>
            <a:pPr indent="0" marL="0">
              <a:buNone/>
            </a:pPr>
            <a:r>
              <a:rPr lang="en-US" sz="1250" b="1" i="1" dirty="0">
                <a:solidFill>
                  <a:srgbClr val="15803D"/>
                </a:solidFill>
                <a:latin typeface="Calibri" pitchFamily="34" charset="0"/>
                <a:ea typeface="Calibri" pitchFamily="34" charset="-122"/>
                <a:cs typeface="Calibri" pitchFamily="34" charset="-120"/>
              </a:rPr>
              <a:t>son caras para este problema. </a:t>
            </a:r>
            <a:pPr indent="0" marL="0">
              <a:buNone/>
            </a:pPr>
            <a:r>
              <a:rPr lang="en-US" sz="1250" i="1" dirty="0">
                <a:solidFill>
                  <a:srgbClr val="4C6053"/>
                </a:solidFill>
                <a:latin typeface="Calibri" pitchFamily="34" charset="0"/>
                <a:ea typeface="Calibri" pitchFamily="34" charset="-122"/>
                <a:cs typeface="Calibri" pitchFamily="34" charset="-120"/>
              </a:rPr>
              <a:t>Para informes gerenciales publicados a diario, el camino estático domina en todas las filas.</a:t>
            </a:r>
            <a:endParaRPr lang="en-US" sz="1250" dirty="0"/>
          </a:p>
        </p:txBody>
      </p:sp>
      <p:sp>
        <p:nvSpPr>
          <p:cNvPr id="7" name="Text 3"/>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5A08F"/>
                </a:solidFill>
                <a:latin typeface="Calibri" pitchFamily="34" charset="0"/>
                <a:ea typeface="Calibri" pitchFamily="34" charset="-122"/>
                <a:cs typeface="Calibri" pitchFamily="34" charset="-120"/>
              </a:rPr>
              <a:t>Advance · Justificación técnica de la plataforma de informes</a:t>
            </a:r>
            <a:endParaRPr lang="en-US" sz="900" dirty="0"/>
          </a:p>
        </p:txBody>
      </p:sp>
      <p:sp>
        <p:nvSpPr>
          <p:cNvPr id="8" name="Text 4"/>
          <p:cNvSpPr/>
          <p:nvPr/>
        </p:nvSpPr>
        <p:spPr>
          <a:xfrm>
            <a:off x="11365992" y="6510528"/>
            <a:ext cx="365760" cy="274320"/>
          </a:xfrm>
          <a:prstGeom prst="rect">
            <a:avLst/>
          </a:prstGeom>
          <a:noFill/>
          <a:ln/>
        </p:spPr>
        <p:txBody>
          <a:bodyPr wrap="square" lIns="0" tIns="0" rIns="0" bIns="0" rtlCol="0" anchor="ctr"/>
          <a:lstStyle/>
          <a:p>
            <a:pPr algn="r" indent="0" marL="0">
              <a:buNone/>
            </a:pPr>
            <a:r>
              <a:rPr lang="en-US" sz="900" dirty="0">
                <a:solidFill>
                  <a:srgbClr val="85A08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515600" cy="292608"/>
          </a:xfrm>
          <a:prstGeom prst="rect">
            <a:avLst/>
          </a:prstGeom>
          <a:noFill/>
          <a:ln/>
        </p:spPr>
        <p:txBody>
          <a:bodyPr wrap="square" lIns="0" tIns="0" rIns="0" bIns="0" rtlCol="0" anchor="ctr"/>
          <a:lstStyle/>
          <a:p>
            <a:pPr indent="0" marL="0">
              <a:buNone/>
            </a:pPr>
            <a:r>
              <a:rPr lang="en-US" sz="1200" b="1" spc="200" kern="0" dirty="0">
                <a:solidFill>
                  <a:srgbClr val="15803D"/>
                </a:solidFill>
                <a:latin typeface="Calibri" pitchFamily="34" charset="0"/>
                <a:ea typeface="Calibri" pitchFamily="34" charset="-122"/>
                <a:cs typeface="Calibri" pitchFamily="34" charset="-120"/>
              </a:rPr>
              <a:t>LO QUE NO SE VE</a:t>
            </a:r>
            <a:endParaRPr lang="en-US" sz="1200" dirty="0"/>
          </a:p>
        </p:txBody>
      </p:sp>
      <p:sp>
        <p:nvSpPr>
          <p:cNvPr id="3" name="Text 1"/>
          <p:cNvSpPr/>
          <p:nvPr/>
        </p:nvSpPr>
        <p:spPr>
          <a:xfrm>
            <a:off x="502920" y="658368"/>
            <a:ext cx="10424160" cy="658368"/>
          </a:xfrm>
          <a:prstGeom prst="rect">
            <a:avLst/>
          </a:prstGeom>
          <a:noFill/>
          <a:ln/>
        </p:spPr>
        <p:txBody>
          <a:bodyPr wrap="square" lIns="0" tIns="0" rIns="0" bIns="0" rtlCol="0" anchor="ctr"/>
          <a:lstStyle/>
          <a:p>
            <a:pPr indent="0" marL="0">
              <a:buNone/>
            </a:pPr>
            <a:r>
              <a:rPr lang="en-US" sz="3000" b="1" dirty="0">
                <a:solidFill>
                  <a:srgbClr val="10261C"/>
                </a:solidFill>
                <a:latin typeface="Calibri" pitchFamily="34" charset="0"/>
                <a:ea typeface="Calibri" pitchFamily="34" charset="-122"/>
                <a:cs typeface="Calibri" pitchFamily="34" charset="-120"/>
              </a:rPr>
              <a:t>El rigor analítico vive en el motor</a:t>
            </a:r>
            <a:endParaRPr lang="en-US" sz="3000" dirty="0"/>
          </a:p>
        </p:txBody>
      </p:sp>
      <p:pic>
        <p:nvPicPr>
          <p:cNvPr id="4" name="Image 0" descr="isotipo-green.png">    </p:cNvPr>
          <p:cNvPicPr>
            <a:picLocks noChangeAspect="1"/>
          </p:cNvPicPr>
          <p:nvPr/>
        </p:nvPicPr>
        <p:blipFill>
          <a:blip r:embed="rId1">
            <a:alphaModFix amt="80000"/>
          </a:blip>
          <a:stretch>
            <a:fillRect/>
          </a:stretch>
        </p:blipFill>
        <p:spPr>
          <a:xfrm>
            <a:off x="11228832" y="384048"/>
            <a:ext cx="457200" cy="498348"/>
          </a:xfrm>
          <a:prstGeom prst="rect">
            <a:avLst/>
          </a:prstGeom>
        </p:spPr>
      </p:pic>
      <p:sp>
        <p:nvSpPr>
          <p:cNvPr id="5" name="Shape 2"/>
          <p:cNvSpPr/>
          <p:nvPr/>
        </p:nvSpPr>
        <p:spPr>
          <a:xfrm>
            <a:off x="502920" y="1627632"/>
            <a:ext cx="3602736" cy="1956816"/>
          </a:xfrm>
          <a:prstGeom prst="roundRect">
            <a:avLst>
              <a:gd name="adj" fmla="val 4206"/>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6" name="Shape 3"/>
          <p:cNvSpPr/>
          <p:nvPr/>
        </p:nvSpPr>
        <p:spPr>
          <a:xfrm>
            <a:off x="704088" y="1828800"/>
            <a:ext cx="475488" cy="475488"/>
          </a:xfrm>
          <a:prstGeom prst="ellipse">
            <a:avLst/>
          </a:prstGeom>
          <a:solidFill>
            <a:srgbClr val="0F5132"/>
          </a:solidFill>
          <a:ln/>
        </p:spPr>
      </p:sp>
      <p:pic>
        <p:nvPicPr>
          <p:cNvPr id="7" name="Image 1" descr="ic-filter-w.png">    </p:cNvPr>
          <p:cNvPicPr>
            <a:picLocks noChangeAspect="1"/>
          </p:cNvPicPr>
          <p:nvPr/>
        </p:nvPicPr>
        <p:blipFill>
          <a:blip r:embed="rId2"/>
          <a:stretch>
            <a:fillRect/>
          </a:stretch>
        </p:blipFill>
        <p:spPr>
          <a:xfrm>
            <a:off x="813816" y="1938528"/>
            <a:ext cx="256032" cy="256032"/>
          </a:xfrm>
          <a:prstGeom prst="rect">
            <a:avLst/>
          </a:prstGeom>
        </p:spPr>
      </p:pic>
      <p:sp>
        <p:nvSpPr>
          <p:cNvPr id="8" name="Text 4"/>
          <p:cNvSpPr/>
          <p:nvPr/>
        </p:nvSpPr>
        <p:spPr>
          <a:xfrm>
            <a:off x="1307592" y="1810512"/>
            <a:ext cx="2642616" cy="512064"/>
          </a:xfrm>
          <a:prstGeom prst="rect">
            <a:avLst/>
          </a:prstGeom>
          <a:noFill/>
          <a:ln/>
        </p:spPr>
        <p:txBody>
          <a:bodyPr wrap="square" lIns="0" tIns="0" rIns="0" bIns="0" rtlCol="0" anchor="ctr"/>
          <a:lstStyle/>
          <a:p>
            <a:pPr indent="0" marL="0">
              <a:buNone/>
            </a:pPr>
            <a:r>
              <a:rPr lang="en-US" sz="1400" b="1" dirty="0">
                <a:solidFill>
                  <a:srgbClr val="10261C"/>
                </a:solidFill>
                <a:latin typeface="Calibri" pitchFamily="34" charset="0"/>
                <a:ea typeface="Calibri" pitchFamily="34" charset="-122"/>
                <a:cs typeface="Calibri" pitchFamily="34" charset="-120"/>
              </a:rPr>
              <a:t>Techos físicos, no operativos</a:t>
            </a:r>
            <a:endParaRPr lang="en-US" sz="1400" dirty="0"/>
          </a:p>
        </p:txBody>
      </p:sp>
      <p:sp>
        <p:nvSpPr>
          <p:cNvPr id="9" name="Text 5"/>
          <p:cNvSpPr/>
          <p:nvPr/>
        </p:nvSpPr>
        <p:spPr>
          <a:xfrm>
            <a:off x="722376" y="2414016"/>
            <a:ext cx="3163824" cy="1024128"/>
          </a:xfrm>
          <a:prstGeom prst="rect">
            <a:avLst/>
          </a:prstGeom>
          <a:noFill/>
          <a:ln/>
        </p:spPr>
        <p:txBody>
          <a:bodyPr wrap="square" lIns="0" tIns="0" rIns="0" bIns="0" rtlCol="0" anchor="t"/>
          <a:lstStyle/>
          <a:p>
            <a:pPr indent="0" marL="0">
              <a:buNone/>
            </a:pPr>
            <a:r>
              <a:rPr lang="en-US" sz="1150" dirty="0">
                <a:solidFill>
                  <a:srgbClr val="4C6053"/>
                </a:solidFill>
                <a:latin typeface="Calibri" pitchFamily="34" charset="0"/>
                <a:ea typeface="Calibri" pitchFamily="34" charset="-122"/>
                <a:cs typeface="Calibri" pitchFamily="34" charset="-120"/>
              </a:rPr>
              <a:t>Se descartan deltas imposibles (&gt; 2,500 km/día) y picos de GPS &gt; 130 km/h que distorsionarían la velocidad máxima.</a:t>
            </a:r>
            <a:endParaRPr lang="en-US" sz="1150" dirty="0"/>
          </a:p>
        </p:txBody>
      </p:sp>
      <p:sp>
        <p:nvSpPr>
          <p:cNvPr id="10" name="Shape 6"/>
          <p:cNvSpPr/>
          <p:nvPr/>
        </p:nvSpPr>
        <p:spPr>
          <a:xfrm>
            <a:off x="4334256" y="1627632"/>
            <a:ext cx="3602736" cy="1956816"/>
          </a:xfrm>
          <a:prstGeom prst="roundRect">
            <a:avLst>
              <a:gd name="adj" fmla="val 4206"/>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11" name="Shape 7"/>
          <p:cNvSpPr/>
          <p:nvPr/>
        </p:nvSpPr>
        <p:spPr>
          <a:xfrm>
            <a:off x="4535424" y="1828800"/>
            <a:ext cx="475488" cy="475488"/>
          </a:xfrm>
          <a:prstGeom prst="ellipse">
            <a:avLst/>
          </a:prstGeom>
          <a:solidFill>
            <a:srgbClr val="0F5132"/>
          </a:solidFill>
          <a:ln/>
        </p:spPr>
      </p:sp>
      <p:pic>
        <p:nvPicPr>
          <p:cNvPr id="12" name="Image 2" descr="ic-clone-w.png">    </p:cNvPr>
          <p:cNvPicPr>
            <a:picLocks noChangeAspect="1"/>
          </p:cNvPicPr>
          <p:nvPr/>
        </p:nvPicPr>
        <p:blipFill>
          <a:blip r:embed="rId3"/>
          <a:stretch>
            <a:fillRect/>
          </a:stretch>
        </p:blipFill>
        <p:spPr>
          <a:xfrm>
            <a:off x="4645152" y="1938528"/>
            <a:ext cx="256032" cy="256032"/>
          </a:xfrm>
          <a:prstGeom prst="rect">
            <a:avLst/>
          </a:prstGeom>
        </p:spPr>
      </p:pic>
      <p:sp>
        <p:nvSpPr>
          <p:cNvPr id="13" name="Text 8"/>
          <p:cNvSpPr/>
          <p:nvPr/>
        </p:nvSpPr>
        <p:spPr>
          <a:xfrm>
            <a:off x="5138928" y="1810512"/>
            <a:ext cx="2642616" cy="512064"/>
          </a:xfrm>
          <a:prstGeom prst="rect">
            <a:avLst/>
          </a:prstGeom>
          <a:noFill/>
          <a:ln/>
        </p:spPr>
        <p:txBody>
          <a:bodyPr wrap="square" lIns="0" tIns="0" rIns="0" bIns="0" rtlCol="0" anchor="ctr"/>
          <a:lstStyle/>
          <a:p>
            <a:pPr indent="0" marL="0">
              <a:buNone/>
            </a:pPr>
            <a:r>
              <a:rPr lang="en-US" sz="1400" b="1" dirty="0">
                <a:solidFill>
                  <a:srgbClr val="10261C"/>
                </a:solidFill>
                <a:latin typeface="Calibri" pitchFamily="34" charset="0"/>
                <a:ea typeface="Calibri" pitchFamily="34" charset="-122"/>
                <a:cs typeface="Calibri" pitchFamily="34" charset="-120"/>
              </a:rPr>
              <a:t>Alertas sin duplicados</a:t>
            </a:r>
            <a:endParaRPr lang="en-US" sz="1400" dirty="0"/>
          </a:p>
        </p:txBody>
      </p:sp>
      <p:sp>
        <p:nvSpPr>
          <p:cNvPr id="14" name="Text 9"/>
          <p:cNvSpPr/>
          <p:nvPr/>
        </p:nvSpPr>
        <p:spPr>
          <a:xfrm>
            <a:off x="4553712" y="2414016"/>
            <a:ext cx="3163824" cy="1024128"/>
          </a:xfrm>
          <a:prstGeom prst="rect">
            <a:avLst/>
          </a:prstGeom>
          <a:noFill/>
          <a:ln/>
        </p:spPr>
        <p:txBody>
          <a:bodyPr wrap="square" lIns="0" tIns="0" rIns="0" bIns="0" rtlCol="0" anchor="t"/>
          <a:lstStyle/>
          <a:p>
            <a:pPr indent="0" marL="0">
              <a:buNone/>
            </a:pPr>
            <a:r>
              <a:rPr lang="en-US" sz="1150" dirty="0">
                <a:solidFill>
                  <a:srgbClr val="4C6053"/>
                </a:solidFill>
                <a:latin typeface="Calibri" pitchFamily="34" charset="0"/>
                <a:ea typeface="Calibri" pitchFamily="34" charset="-122"/>
                <a:cs typeface="Calibri" pitchFamily="34" charset="-120"/>
              </a:rPr>
              <a:t>La paginación de la API se deduplica por unidad + hora + tipo antes de contar un solo evento.</a:t>
            </a:r>
            <a:endParaRPr lang="en-US" sz="1150" dirty="0"/>
          </a:p>
        </p:txBody>
      </p:sp>
      <p:sp>
        <p:nvSpPr>
          <p:cNvPr id="15" name="Shape 10"/>
          <p:cNvSpPr/>
          <p:nvPr/>
        </p:nvSpPr>
        <p:spPr>
          <a:xfrm>
            <a:off x="8165592" y="1627632"/>
            <a:ext cx="3602736" cy="1956816"/>
          </a:xfrm>
          <a:prstGeom prst="roundRect">
            <a:avLst>
              <a:gd name="adj" fmla="val 4206"/>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16" name="Shape 11"/>
          <p:cNvSpPr/>
          <p:nvPr/>
        </p:nvSpPr>
        <p:spPr>
          <a:xfrm>
            <a:off x="8366760" y="1828800"/>
            <a:ext cx="475488" cy="475488"/>
          </a:xfrm>
          <a:prstGeom prst="ellipse">
            <a:avLst/>
          </a:prstGeom>
          <a:solidFill>
            <a:srgbClr val="0F5132"/>
          </a:solidFill>
          <a:ln/>
        </p:spPr>
      </p:sp>
      <p:pic>
        <p:nvPicPr>
          <p:cNvPr id="17" name="Image 3" descr="ic-tags-w.png">    </p:cNvPr>
          <p:cNvPicPr>
            <a:picLocks noChangeAspect="1"/>
          </p:cNvPicPr>
          <p:nvPr/>
        </p:nvPicPr>
        <p:blipFill>
          <a:blip r:embed="rId4"/>
          <a:stretch>
            <a:fillRect/>
          </a:stretch>
        </p:blipFill>
        <p:spPr>
          <a:xfrm>
            <a:off x="8476488" y="1938528"/>
            <a:ext cx="256032" cy="256032"/>
          </a:xfrm>
          <a:prstGeom prst="rect">
            <a:avLst/>
          </a:prstGeom>
        </p:spPr>
      </p:pic>
      <p:sp>
        <p:nvSpPr>
          <p:cNvPr id="18" name="Text 12"/>
          <p:cNvSpPr/>
          <p:nvPr/>
        </p:nvSpPr>
        <p:spPr>
          <a:xfrm>
            <a:off x="8970264" y="1810512"/>
            <a:ext cx="2642616" cy="512064"/>
          </a:xfrm>
          <a:prstGeom prst="rect">
            <a:avLst/>
          </a:prstGeom>
          <a:noFill/>
          <a:ln/>
        </p:spPr>
        <p:txBody>
          <a:bodyPr wrap="square" lIns="0" tIns="0" rIns="0" bIns="0" rtlCol="0" anchor="ctr"/>
          <a:lstStyle/>
          <a:p>
            <a:pPr indent="0" marL="0">
              <a:buNone/>
            </a:pPr>
            <a:r>
              <a:rPr lang="en-US" sz="1400" b="1" dirty="0">
                <a:solidFill>
                  <a:srgbClr val="10261C"/>
                </a:solidFill>
                <a:latin typeface="Calibri" pitchFamily="34" charset="0"/>
                <a:ea typeface="Calibri" pitchFamily="34" charset="-122"/>
                <a:cs typeface="Calibri" pitchFamily="34" charset="-120"/>
              </a:rPr>
              <a:t>VIN sin modelo, agrupado</a:t>
            </a:r>
            <a:endParaRPr lang="en-US" sz="1400" dirty="0"/>
          </a:p>
        </p:txBody>
      </p:sp>
      <p:sp>
        <p:nvSpPr>
          <p:cNvPr id="19" name="Text 13"/>
          <p:cNvSpPr/>
          <p:nvPr/>
        </p:nvSpPr>
        <p:spPr>
          <a:xfrm>
            <a:off x="8385048" y="2414016"/>
            <a:ext cx="3163824" cy="1024128"/>
          </a:xfrm>
          <a:prstGeom prst="rect">
            <a:avLst/>
          </a:prstGeom>
          <a:noFill/>
          <a:ln/>
        </p:spPr>
        <p:txBody>
          <a:bodyPr wrap="square" lIns="0" tIns="0" rIns="0" bIns="0" rtlCol="0" anchor="t"/>
          <a:lstStyle/>
          <a:p>
            <a:pPr indent="0" marL="0">
              <a:buNone/>
            </a:pPr>
            <a:r>
              <a:rPr lang="en-US" sz="1150" dirty="0">
                <a:solidFill>
                  <a:srgbClr val="4C6053"/>
                </a:solidFill>
                <a:latin typeface="Calibri" pitchFamily="34" charset="0"/>
                <a:ea typeface="Calibri" pitchFamily="34" charset="-122"/>
                <a:cs typeface="Calibri" pitchFamily="34" charset="-120"/>
              </a:rPr>
              <a:t>Unidades sin modelo capturado no inflan la lista: se agrupan como "Sin modelo asignado".</a:t>
            </a:r>
            <a:endParaRPr lang="en-US" sz="1150" dirty="0"/>
          </a:p>
        </p:txBody>
      </p:sp>
      <p:sp>
        <p:nvSpPr>
          <p:cNvPr id="20" name="Shape 14"/>
          <p:cNvSpPr/>
          <p:nvPr/>
        </p:nvSpPr>
        <p:spPr>
          <a:xfrm>
            <a:off x="502920" y="3840480"/>
            <a:ext cx="3602736" cy="1956816"/>
          </a:xfrm>
          <a:prstGeom prst="roundRect">
            <a:avLst>
              <a:gd name="adj" fmla="val 4206"/>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21" name="Shape 15"/>
          <p:cNvSpPr/>
          <p:nvPr/>
        </p:nvSpPr>
        <p:spPr>
          <a:xfrm>
            <a:off x="704088" y="4041648"/>
            <a:ext cx="475488" cy="475488"/>
          </a:xfrm>
          <a:prstGeom prst="ellipse">
            <a:avLst/>
          </a:prstGeom>
          <a:solidFill>
            <a:srgbClr val="15803D"/>
          </a:solidFill>
          <a:ln/>
        </p:spPr>
      </p:sp>
      <p:pic>
        <p:nvPicPr>
          <p:cNvPr id="22" name="Image 4" descr="ic-gas-w.png">    </p:cNvPr>
          <p:cNvPicPr>
            <a:picLocks noChangeAspect="1"/>
          </p:cNvPicPr>
          <p:nvPr/>
        </p:nvPicPr>
        <p:blipFill>
          <a:blip r:embed="rId5"/>
          <a:stretch>
            <a:fillRect/>
          </a:stretch>
        </p:blipFill>
        <p:spPr>
          <a:xfrm>
            <a:off x="813816" y="4151376"/>
            <a:ext cx="256032" cy="256032"/>
          </a:xfrm>
          <a:prstGeom prst="rect">
            <a:avLst/>
          </a:prstGeom>
        </p:spPr>
      </p:pic>
      <p:sp>
        <p:nvSpPr>
          <p:cNvPr id="23" name="Text 16"/>
          <p:cNvSpPr/>
          <p:nvPr/>
        </p:nvSpPr>
        <p:spPr>
          <a:xfrm>
            <a:off x="1307592" y="4023360"/>
            <a:ext cx="2642616" cy="512064"/>
          </a:xfrm>
          <a:prstGeom prst="rect">
            <a:avLst/>
          </a:prstGeom>
          <a:noFill/>
          <a:ln/>
        </p:spPr>
        <p:txBody>
          <a:bodyPr wrap="square" lIns="0" tIns="0" rIns="0" bIns="0" rtlCol="0" anchor="ctr"/>
          <a:lstStyle/>
          <a:p>
            <a:pPr indent="0" marL="0">
              <a:buNone/>
            </a:pPr>
            <a:r>
              <a:rPr lang="en-US" sz="1400" b="1" dirty="0">
                <a:solidFill>
                  <a:srgbClr val="10261C"/>
                </a:solidFill>
                <a:latin typeface="Calibri" pitchFamily="34" charset="0"/>
                <a:ea typeface="Calibri" pitchFamily="34" charset="-122"/>
                <a:cs typeface="Calibri" pitchFamily="34" charset="-120"/>
              </a:rPr>
              <a:t>Descargas de diésel</a:t>
            </a:r>
            <a:endParaRPr lang="en-US" sz="1400" dirty="0"/>
          </a:p>
        </p:txBody>
      </p:sp>
      <p:sp>
        <p:nvSpPr>
          <p:cNvPr id="24" name="Text 17"/>
          <p:cNvSpPr/>
          <p:nvPr/>
        </p:nvSpPr>
        <p:spPr>
          <a:xfrm>
            <a:off x="722376" y="4626864"/>
            <a:ext cx="3163824" cy="1024128"/>
          </a:xfrm>
          <a:prstGeom prst="rect">
            <a:avLst/>
          </a:prstGeom>
          <a:noFill/>
          <a:ln/>
        </p:spPr>
        <p:txBody>
          <a:bodyPr wrap="square" lIns="0" tIns="0" rIns="0" bIns="0" rtlCol="0" anchor="t"/>
          <a:lstStyle/>
          <a:p>
            <a:pPr indent="0" marL="0">
              <a:buNone/>
            </a:pPr>
            <a:r>
              <a:rPr lang="en-US" sz="1150" dirty="0">
                <a:solidFill>
                  <a:srgbClr val="4C6053"/>
                </a:solidFill>
                <a:latin typeface="Calibri" pitchFamily="34" charset="0"/>
                <a:ea typeface="Calibri" pitchFamily="34" charset="-122"/>
                <a:cs typeface="Calibri" pitchFamily="34" charset="-120"/>
              </a:rPr>
              <a:t>Caídas ≥ 8% del tanque en menos de 30 minutos se detectan y cuantifican en litros.</a:t>
            </a:r>
            <a:endParaRPr lang="en-US" sz="1150" dirty="0"/>
          </a:p>
        </p:txBody>
      </p:sp>
      <p:sp>
        <p:nvSpPr>
          <p:cNvPr id="25" name="Shape 18"/>
          <p:cNvSpPr/>
          <p:nvPr/>
        </p:nvSpPr>
        <p:spPr>
          <a:xfrm>
            <a:off x="4334256" y="3840480"/>
            <a:ext cx="3602736" cy="1956816"/>
          </a:xfrm>
          <a:prstGeom prst="roundRect">
            <a:avLst>
              <a:gd name="adj" fmla="val 4206"/>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26" name="Shape 19"/>
          <p:cNvSpPr/>
          <p:nvPr/>
        </p:nvSpPr>
        <p:spPr>
          <a:xfrm>
            <a:off x="4535424" y="4041648"/>
            <a:ext cx="475488" cy="475488"/>
          </a:xfrm>
          <a:prstGeom prst="ellipse">
            <a:avLst/>
          </a:prstGeom>
          <a:solidFill>
            <a:srgbClr val="15803D"/>
          </a:solidFill>
          <a:ln/>
        </p:spPr>
      </p:sp>
      <p:pic>
        <p:nvPicPr>
          <p:cNvPr id="27" name="Image 5" descr="ic-balance-w.png">    </p:cNvPr>
          <p:cNvPicPr>
            <a:picLocks noChangeAspect="1"/>
          </p:cNvPicPr>
          <p:nvPr/>
        </p:nvPicPr>
        <p:blipFill>
          <a:blip r:embed="rId6"/>
          <a:stretch>
            <a:fillRect/>
          </a:stretch>
        </p:blipFill>
        <p:spPr>
          <a:xfrm>
            <a:off x="4645152" y="4151376"/>
            <a:ext cx="256032" cy="256032"/>
          </a:xfrm>
          <a:prstGeom prst="rect">
            <a:avLst/>
          </a:prstGeom>
        </p:spPr>
      </p:pic>
      <p:sp>
        <p:nvSpPr>
          <p:cNvPr id="28" name="Text 20"/>
          <p:cNvSpPr/>
          <p:nvPr/>
        </p:nvSpPr>
        <p:spPr>
          <a:xfrm>
            <a:off x="5138928" y="4023360"/>
            <a:ext cx="2642616" cy="512064"/>
          </a:xfrm>
          <a:prstGeom prst="rect">
            <a:avLst/>
          </a:prstGeom>
          <a:noFill/>
          <a:ln/>
        </p:spPr>
        <p:txBody>
          <a:bodyPr wrap="square" lIns="0" tIns="0" rIns="0" bIns="0" rtlCol="0" anchor="ctr"/>
          <a:lstStyle/>
          <a:p>
            <a:pPr indent="0" marL="0">
              <a:buNone/>
            </a:pPr>
            <a:r>
              <a:rPr lang="en-US" sz="1400" b="1" dirty="0">
                <a:solidFill>
                  <a:srgbClr val="10261C"/>
                </a:solidFill>
                <a:latin typeface="Calibri" pitchFamily="34" charset="0"/>
                <a:ea typeface="Calibri" pitchFamily="34" charset="-122"/>
                <a:cs typeface="Calibri" pitchFamily="34" charset="-120"/>
              </a:rPr>
              <a:t>Muestra mínima</a:t>
            </a:r>
            <a:endParaRPr lang="en-US" sz="1400" dirty="0"/>
          </a:p>
        </p:txBody>
      </p:sp>
      <p:sp>
        <p:nvSpPr>
          <p:cNvPr id="29" name="Text 21"/>
          <p:cNvSpPr/>
          <p:nvPr/>
        </p:nvSpPr>
        <p:spPr>
          <a:xfrm>
            <a:off x="4553712" y="4626864"/>
            <a:ext cx="3163824" cy="1024128"/>
          </a:xfrm>
          <a:prstGeom prst="rect">
            <a:avLst/>
          </a:prstGeom>
          <a:noFill/>
          <a:ln/>
        </p:spPr>
        <p:txBody>
          <a:bodyPr wrap="square" lIns="0" tIns="0" rIns="0" bIns="0" rtlCol="0" anchor="t"/>
          <a:lstStyle/>
          <a:p>
            <a:pPr indent="0" marL="0">
              <a:buNone/>
            </a:pPr>
            <a:r>
              <a:rPr lang="en-US" sz="1150" dirty="0">
                <a:solidFill>
                  <a:srgbClr val="4C6053"/>
                </a:solidFill>
                <a:latin typeface="Calibri" pitchFamily="34" charset="0"/>
                <a:ea typeface="Calibri" pitchFamily="34" charset="-122"/>
                <a:cs typeface="Calibri" pitchFamily="34" charset="-120"/>
              </a:rPr>
              <a:t>No se compara el rendimiento entre unidades sin datos suficientes para que la brecha sea creíble.</a:t>
            </a:r>
            <a:endParaRPr lang="en-US" sz="1150" dirty="0"/>
          </a:p>
        </p:txBody>
      </p:sp>
      <p:sp>
        <p:nvSpPr>
          <p:cNvPr id="30" name="Shape 22"/>
          <p:cNvSpPr/>
          <p:nvPr/>
        </p:nvSpPr>
        <p:spPr>
          <a:xfrm>
            <a:off x="8165592" y="3840480"/>
            <a:ext cx="3602736" cy="1956816"/>
          </a:xfrm>
          <a:prstGeom prst="roundRect">
            <a:avLst>
              <a:gd name="adj" fmla="val 4206"/>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31" name="Shape 23"/>
          <p:cNvSpPr/>
          <p:nvPr/>
        </p:nvSpPr>
        <p:spPr>
          <a:xfrm>
            <a:off x="8366760" y="4041648"/>
            <a:ext cx="475488" cy="475488"/>
          </a:xfrm>
          <a:prstGeom prst="ellipse">
            <a:avLst/>
          </a:prstGeom>
          <a:solidFill>
            <a:srgbClr val="15803D"/>
          </a:solidFill>
          <a:ln/>
        </p:spPr>
      </p:sp>
      <p:pic>
        <p:nvPicPr>
          <p:cNvPr id="32" name="Image 6" descr="ic-cal-w.png">    </p:cNvPr>
          <p:cNvPicPr>
            <a:picLocks noChangeAspect="1"/>
          </p:cNvPicPr>
          <p:nvPr/>
        </p:nvPicPr>
        <p:blipFill>
          <a:blip r:embed="rId7"/>
          <a:stretch>
            <a:fillRect/>
          </a:stretch>
        </p:blipFill>
        <p:spPr>
          <a:xfrm>
            <a:off x="8476488" y="4151376"/>
            <a:ext cx="256032" cy="256032"/>
          </a:xfrm>
          <a:prstGeom prst="rect">
            <a:avLst/>
          </a:prstGeom>
        </p:spPr>
      </p:pic>
      <p:sp>
        <p:nvSpPr>
          <p:cNvPr id="33" name="Text 24"/>
          <p:cNvSpPr/>
          <p:nvPr/>
        </p:nvSpPr>
        <p:spPr>
          <a:xfrm>
            <a:off x="8970264" y="4023360"/>
            <a:ext cx="2642616" cy="512064"/>
          </a:xfrm>
          <a:prstGeom prst="rect">
            <a:avLst/>
          </a:prstGeom>
          <a:noFill/>
          <a:ln/>
        </p:spPr>
        <p:txBody>
          <a:bodyPr wrap="square" lIns="0" tIns="0" rIns="0" bIns="0" rtlCol="0" anchor="ctr"/>
          <a:lstStyle/>
          <a:p>
            <a:pPr indent="0" marL="0">
              <a:buNone/>
            </a:pPr>
            <a:r>
              <a:rPr lang="en-US" sz="1400" b="1" dirty="0">
                <a:solidFill>
                  <a:srgbClr val="10261C"/>
                </a:solidFill>
                <a:latin typeface="Calibri" pitchFamily="34" charset="0"/>
                <a:ea typeface="Calibri" pitchFamily="34" charset="-122"/>
                <a:cs typeface="Calibri" pitchFamily="34" charset="-120"/>
              </a:rPr>
              <a:t>Ventana de 30 días + histórico</a:t>
            </a:r>
            <a:endParaRPr lang="en-US" sz="1400" dirty="0"/>
          </a:p>
        </p:txBody>
      </p:sp>
      <p:sp>
        <p:nvSpPr>
          <p:cNvPr id="34" name="Text 25"/>
          <p:cNvSpPr/>
          <p:nvPr/>
        </p:nvSpPr>
        <p:spPr>
          <a:xfrm>
            <a:off x="8385048" y="4626864"/>
            <a:ext cx="3163824" cy="1024128"/>
          </a:xfrm>
          <a:prstGeom prst="rect">
            <a:avLst/>
          </a:prstGeom>
          <a:noFill/>
          <a:ln/>
        </p:spPr>
        <p:txBody>
          <a:bodyPr wrap="square" lIns="0" tIns="0" rIns="0" bIns="0" rtlCol="0" anchor="t"/>
          <a:lstStyle/>
          <a:p>
            <a:pPr indent="0" marL="0">
              <a:buNone/>
            </a:pPr>
            <a:r>
              <a:rPr lang="en-US" sz="1150" dirty="0">
                <a:solidFill>
                  <a:srgbClr val="4C6053"/>
                </a:solidFill>
                <a:latin typeface="Calibri" pitchFamily="34" charset="0"/>
                <a:ea typeface="Calibri" pitchFamily="34" charset="-122"/>
                <a:cs typeface="Calibri" pitchFamily="34" charset="-120"/>
              </a:rPr>
              <a:t>Alineada al límite de la API; el histórico mensual propio ya acumula la serie larga por unidad.</a:t>
            </a:r>
            <a:endParaRPr lang="en-US" sz="1150" dirty="0"/>
          </a:p>
        </p:txBody>
      </p:sp>
      <p:sp>
        <p:nvSpPr>
          <p:cNvPr id="35" name="Text 26"/>
          <p:cNvSpPr/>
          <p:nvPr/>
        </p:nvSpPr>
        <p:spPr>
          <a:xfrm>
            <a:off x="502920" y="5897880"/>
            <a:ext cx="11155680" cy="365760"/>
          </a:xfrm>
          <a:prstGeom prst="rect">
            <a:avLst/>
          </a:prstGeom>
          <a:noFill/>
          <a:ln/>
        </p:spPr>
        <p:txBody>
          <a:bodyPr wrap="square" lIns="0" tIns="0" rIns="0" bIns="0" rtlCol="0" anchor="ctr"/>
          <a:lstStyle/>
          <a:p>
            <a:pPr indent="0" marL="0">
              <a:buNone/>
            </a:pPr>
            <a:r>
              <a:rPr lang="en-US" sz="1300" i="1" dirty="0">
                <a:solidFill>
                  <a:srgbClr val="4C6053"/>
                </a:solidFill>
                <a:latin typeface="Calibri" pitchFamily="34" charset="0"/>
                <a:ea typeface="Calibri" pitchFamily="34" charset="-122"/>
                <a:cs typeface="Calibri" pitchFamily="34" charset="-120"/>
              </a:rPr>
              <a:t>Elegir "simple" en la infraestructura nos dejó invertir la complejidad donde sí paga: </a:t>
            </a:r>
            <a:pPr indent="0" marL="0">
              <a:buNone/>
            </a:pPr>
            <a:r>
              <a:rPr lang="en-US" sz="1300" b="1" i="1" dirty="0">
                <a:solidFill>
                  <a:srgbClr val="15803D"/>
                </a:solidFill>
                <a:latin typeface="Calibri" pitchFamily="34" charset="0"/>
                <a:ea typeface="Calibri" pitchFamily="34" charset="-122"/>
                <a:cs typeface="Calibri" pitchFamily="34" charset="-120"/>
              </a:rPr>
              <a:t>en la calidad del dato.</a:t>
            </a:r>
            <a:endParaRPr lang="en-US" sz="1300" dirty="0"/>
          </a:p>
        </p:txBody>
      </p:sp>
      <p:sp>
        <p:nvSpPr>
          <p:cNvPr id="36" name="Text 27"/>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5A08F"/>
                </a:solidFill>
                <a:latin typeface="Calibri" pitchFamily="34" charset="0"/>
                <a:ea typeface="Calibri" pitchFamily="34" charset="-122"/>
                <a:cs typeface="Calibri" pitchFamily="34" charset="-120"/>
              </a:rPr>
              <a:t>Advance · Justificación técnica de la plataforma de informes</a:t>
            </a:r>
            <a:endParaRPr lang="en-US" sz="900" dirty="0"/>
          </a:p>
        </p:txBody>
      </p:sp>
      <p:sp>
        <p:nvSpPr>
          <p:cNvPr id="37" name="Text 28"/>
          <p:cNvSpPr/>
          <p:nvPr/>
        </p:nvSpPr>
        <p:spPr>
          <a:xfrm>
            <a:off x="11365992" y="6510528"/>
            <a:ext cx="365760" cy="274320"/>
          </a:xfrm>
          <a:prstGeom prst="rect">
            <a:avLst/>
          </a:prstGeom>
          <a:noFill/>
          <a:ln/>
        </p:spPr>
        <p:txBody>
          <a:bodyPr wrap="square" lIns="0" tIns="0" rIns="0" bIns="0" rtlCol="0" anchor="ctr"/>
          <a:lstStyle/>
          <a:p>
            <a:pPr algn="r" indent="0" marL="0">
              <a:buNone/>
            </a:pPr>
            <a:r>
              <a:rPr lang="en-US" sz="900" dirty="0">
                <a:solidFill>
                  <a:srgbClr val="85A08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515600" cy="292608"/>
          </a:xfrm>
          <a:prstGeom prst="rect">
            <a:avLst/>
          </a:prstGeom>
          <a:noFill/>
          <a:ln/>
        </p:spPr>
        <p:txBody>
          <a:bodyPr wrap="square" lIns="0" tIns="0" rIns="0" bIns="0" rtlCol="0" anchor="ctr"/>
          <a:lstStyle/>
          <a:p>
            <a:pPr indent="0" marL="0">
              <a:buNone/>
            </a:pPr>
            <a:r>
              <a:rPr lang="en-US" sz="1200" b="1" spc="200" kern="0" dirty="0">
                <a:solidFill>
                  <a:srgbClr val="15803D"/>
                </a:solidFill>
                <a:latin typeface="Calibri" pitchFamily="34" charset="0"/>
                <a:ea typeface="Calibri" pitchFamily="34" charset="-122"/>
                <a:cs typeface="Calibri" pitchFamily="34" charset="-120"/>
              </a:rPr>
              <a:t>ESTADO ACTUAL</a:t>
            </a:r>
            <a:endParaRPr lang="en-US" sz="1200" dirty="0"/>
          </a:p>
        </p:txBody>
      </p:sp>
      <p:sp>
        <p:nvSpPr>
          <p:cNvPr id="3" name="Text 1"/>
          <p:cNvSpPr/>
          <p:nvPr/>
        </p:nvSpPr>
        <p:spPr>
          <a:xfrm>
            <a:off x="502920" y="658368"/>
            <a:ext cx="10424160" cy="658368"/>
          </a:xfrm>
          <a:prstGeom prst="rect">
            <a:avLst/>
          </a:prstGeom>
          <a:noFill/>
          <a:ln/>
        </p:spPr>
        <p:txBody>
          <a:bodyPr wrap="square" lIns="0" tIns="0" rIns="0" bIns="0" rtlCol="0" anchor="ctr"/>
          <a:lstStyle/>
          <a:p>
            <a:pPr indent="0" marL="0">
              <a:buNone/>
            </a:pPr>
            <a:r>
              <a:rPr lang="en-US" sz="3000" b="1" dirty="0">
                <a:solidFill>
                  <a:srgbClr val="10261C"/>
                </a:solidFill>
                <a:latin typeface="Calibri" pitchFamily="34" charset="0"/>
                <a:ea typeface="Calibri" pitchFamily="34" charset="-122"/>
                <a:cs typeface="Calibri" pitchFamily="34" charset="-120"/>
              </a:rPr>
              <a:t>Dónde estamos y qué sigue</a:t>
            </a:r>
            <a:endParaRPr lang="en-US" sz="3000" dirty="0"/>
          </a:p>
        </p:txBody>
      </p:sp>
      <p:pic>
        <p:nvPicPr>
          <p:cNvPr id="4" name="Image 0" descr="isotipo-green.png">    </p:cNvPr>
          <p:cNvPicPr>
            <a:picLocks noChangeAspect="1"/>
          </p:cNvPicPr>
          <p:nvPr/>
        </p:nvPicPr>
        <p:blipFill>
          <a:blip r:embed="rId1">
            <a:alphaModFix amt="80000"/>
          </a:blip>
          <a:stretch>
            <a:fillRect/>
          </a:stretch>
        </p:blipFill>
        <p:spPr>
          <a:xfrm>
            <a:off x="11228832" y="384048"/>
            <a:ext cx="457200" cy="498348"/>
          </a:xfrm>
          <a:prstGeom prst="rect">
            <a:avLst/>
          </a:prstGeom>
        </p:spPr>
      </p:pic>
      <p:sp>
        <p:nvSpPr>
          <p:cNvPr id="5" name="Shape 2"/>
          <p:cNvSpPr/>
          <p:nvPr/>
        </p:nvSpPr>
        <p:spPr>
          <a:xfrm>
            <a:off x="502920" y="1691640"/>
            <a:ext cx="5486400" cy="4160520"/>
          </a:xfrm>
          <a:prstGeom prst="roundRect">
            <a:avLst>
              <a:gd name="adj" fmla="val 1978"/>
            </a:avLst>
          </a:prstGeom>
          <a:solidFill>
            <a:srgbClr val="F0F7EA"/>
          </a:solidFill>
          <a:ln w="9525">
            <a:solidFill>
              <a:srgbClr val="D7E8CC"/>
            </a:solidFill>
            <a:prstDash val="solid"/>
          </a:ln>
          <a:effectLst>
            <a:outerShdw sx="100000" sy="100000" kx="0" ky="0" algn="bl" rotWithShape="0" blurRad="127000" dist="38100" dir="5400000">
              <a:srgbClr val="104626">
                <a:alpha val="18000"/>
              </a:srgbClr>
            </a:outerShdw>
          </a:effectLst>
        </p:spPr>
      </p:sp>
      <p:sp>
        <p:nvSpPr>
          <p:cNvPr id="6" name="Text 3"/>
          <p:cNvSpPr/>
          <p:nvPr/>
        </p:nvSpPr>
        <p:spPr>
          <a:xfrm>
            <a:off x="795528" y="1920240"/>
            <a:ext cx="4901184" cy="274320"/>
          </a:xfrm>
          <a:prstGeom prst="rect">
            <a:avLst/>
          </a:prstGeom>
          <a:noFill/>
          <a:ln/>
        </p:spPr>
        <p:txBody>
          <a:bodyPr wrap="square" lIns="0" tIns="0" rIns="0" bIns="0" rtlCol="0" anchor="ctr"/>
          <a:lstStyle/>
          <a:p>
            <a:pPr indent="0" marL="0">
              <a:buNone/>
            </a:pPr>
            <a:r>
              <a:rPr lang="en-US" sz="1200" b="1" spc="200" kern="0" dirty="0">
                <a:solidFill>
                  <a:srgbClr val="15803D"/>
                </a:solidFill>
                <a:latin typeface="Calibri" pitchFamily="34" charset="0"/>
                <a:ea typeface="Calibri" pitchFamily="34" charset="-122"/>
                <a:cs typeface="Calibri" pitchFamily="34" charset="-120"/>
              </a:rPr>
              <a:t>HOY, EN PRODUCCIÓN</a:t>
            </a:r>
            <a:endParaRPr lang="en-US" sz="1200" dirty="0"/>
          </a:p>
        </p:txBody>
      </p:sp>
      <p:pic>
        <p:nvPicPr>
          <p:cNvPr id="7" name="Image 1" descr="ic-check-g.png">    </p:cNvPr>
          <p:cNvPicPr>
            <a:picLocks noChangeAspect="1"/>
          </p:cNvPicPr>
          <p:nvPr/>
        </p:nvPicPr>
        <p:blipFill>
          <a:blip r:embed="rId2"/>
          <a:stretch>
            <a:fillRect/>
          </a:stretch>
        </p:blipFill>
        <p:spPr>
          <a:xfrm>
            <a:off x="795528" y="2377440"/>
            <a:ext cx="274320" cy="274320"/>
          </a:xfrm>
          <a:prstGeom prst="rect">
            <a:avLst/>
          </a:prstGeom>
        </p:spPr>
      </p:pic>
      <p:sp>
        <p:nvSpPr>
          <p:cNvPr id="8" name="Text 4"/>
          <p:cNvSpPr/>
          <p:nvPr/>
        </p:nvSpPr>
        <p:spPr>
          <a:xfrm>
            <a:off x="1216152" y="2350008"/>
            <a:ext cx="4462272" cy="822960"/>
          </a:xfrm>
          <a:prstGeom prst="rect">
            <a:avLst/>
          </a:prstGeom>
          <a:noFill/>
          <a:ln/>
        </p:spPr>
        <p:txBody>
          <a:bodyPr wrap="square" lIns="0" tIns="0" rIns="0" bIns="0" rtlCol="0" anchor="t"/>
          <a:lstStyle/>
          <a:p>
            <a:pPr indent="0" marL="0">
              <a:lnSpc>
                <a:spcPts val="1600"/>
              </a:lnSpc>
              <a:buNone/>
            </a:pPr>
            <a:r>
              <a:rPr lang="en-US" sz="1250" b="1" dirty="0">
                <a:solidFill>
                  <a:srgbClr val="10261C"/>
                </a:solidFill>
                <a:latin typeface="Calibri" pitchFamily="34" charset="0"/>
                <a:ea typeface="Calibri" pitchFamily="34" charset="-122"/>
                <a:cs typeface="Calibri" pitchFamily="34" charset="-120"/>
              </a:rPr>
              <a:t>Fertilizantes Tepeyac — </a:t>
            </a:r>
            <a:pPr indent="0" marL="0">
              <a:lnSpc>
                <a:spcPts val="1600"/>
              </a:lnSpc>
              <a:buNone/>
            </a:pPr>
            <a:r>
              <a:rPr lang="en-US" sz="1250" dirty="0">
                <a:solidFill>
                  <a:srgbClr val="4C6053"/>
                </a:solidFill>
                <a:latin typeface="Calibri" pitchFamily="34" charset="0"/>
                <a:ea typeface="Calibri" pitchFamily="34" charset="-122"/>
                <a:cs typeface="Calibri" pitchFamily="34" charset="-120"/>
              </a:rPr>
              <a:t>informe completo, publicado en la raíz del sitio.</a:t>
            </a:r>
            <a:endParaRPr lang="en-US" sz="1250" dirty="0"/>
          </a:p>
        </p:txBody>
      </p:sp>
      <p:pic>
        <p:nvPicPr>
          <p:cNvPr id="9" name="Image 2" descr="ic-check-g.png">    </p:cNvPr>
          <p:cNvPicPr>
            <a:picLocks noChangeAspect="1"/>
          </p:cNvPicPr>
          <p:nvPr/>
        </p:nvPicPr>
        <p:blipFill>
          <a:blip r:embed="rId3"/>
          <a:stretch>
            <a:fillRect/>
          </a:stretch>
        </p:blipFill>
        <p:spPr>
          <a:xfrm>
            <a:off x="795528" y="3218688"/>
            <a:ext cx="274320" cy="274320"/>
          </a:xfrm>
          <a:prstGeom prst="rect">
            <a:avLst/>
          </a:prstGeom>
        </p:spPr>
      </p:pic>
      <p:sp>
        <p:nvSpPr>
          <p:cNvPr id="10" name="Text 5"/>
          <p:cNvSpPr/>
          <p:nvPr/>
        </p:nvSpPr>
        <p:spPr>
          <a:xfrm>
            <a:off x="1216152" y="3191256"/>
            <a:ext cx="4462272" cy="822960"/>
          </a:xfrm>
          <a:prstGeom prst="rect">
            <a:avLst/>
          </a:prstGeom>
          <a:noFill/>
          <a:ln/>
        </p:spPr>
        <p:txBody>
          <a:bodyPr wrap="square" lIns="0" tIns="0" rIns="0" bIns="0" rtlCol="0" anchor="t"/>
          <a:lstStyle/>
          <a:p>
            <a:pPr indent="0" marL="0">
              <a:lnSpc>
                <a:spcPts val="1600"/>
              </a:lnSpc>
              <a:buNone/>
            </a:pPr>
            <a:r>
              <a:rPr lang="en-US" sz="1250" b="1" dirty="0">
                <a:solidFill>
                  <a:srgbClr val="10261C"/>
                </a:solidFill>
                <a:latin typeface="Calibri" pitchFamily="34" charset="0"/>
                <a:ea typeface="Calibri" pitchFamily="34" charset="-122"/>
                <a:cs typeface="Calibri" pitchFamily="34" charset="-120"/>
              </a:rPr>
              <a:t>J&amp;T Express — </a:t>
            </a:r>
            <a:pPr indent="0" marL="0">
              <a:lnSpc>
                <a:spcPts val="1600"/>
              </a:lnSpc>
              <a:buNone/>
            </a:pPr>
            <a:r>
              <a:rPr lang="en-US" sz="1250" dirty="0">
                <a:solidFill>
                  <a:srgbClr val="4C6053"/>
                </a:solidFill>
                <a:latin typeface="Calibri" pitchFamily="34" charset="0"/>
                <a:ea typeface="Calibri" pitchFamily="34" charset="-122"/>
                <a:cs typeface="Calibri" pitchFamily="34" charset="-120"/>
              </a:rPr>
              <a:t>informe + tablero ejecutivo + histórico mensual, acotado a la flota GTL con ligas cortas (/jt).</a:t>
            </a:r>
            <a:endParaRPr lang="en-US" sz="1250" dirty="0"/>
          </a:p>
        </p:txBody>
      </p:sp>
      <p:pic>
        <p:nvPicPr>
          <p:cNvPr id="11" name="Image 3" descr="ic-check-g.png">    </p:cNvPr>
          <p:cNvPicPr>
            <a:picLocks noChangeAspect="1"/>
          </p:cNvPicPr>
          <p:nvPr/>
        </p:nvPicPr>
        <p:blipFill>
          <a:blip r:embed="rId4"/>
          <a:stretch>
            <a:fillRect/>
          </a:stretch>
        </p:blipFill>
        <p:spPr>
          <a:xfrm>
            <a:off x="795528" y="4059936"/>
            <a:ext cx="274320" cy="274320"/>
          </a:xfrm>
          <a:prstGeom prst="rect">
            <a:avLst/>
          </a:prstGeom>
        </p:spPr>
      </p:pic>
      <p:sp>
        <p:nvSpPr>
          <p:cNvPr id="12" name="Text 6"/>
          <p:cNvSpPr/>
          <p:nvPr/>
        </p:nvSpPr>
        <p:spPr>
          <a:xfrm>
            <a:off x="1216152" y="4032504"/>
            <a:ext cx="4462272" cy="822960"/>
          </a:xfrm>
          <a:prstGeom prst="rect">
            <a:avLst/>
          </a:prstGeom>
          <a:noFill/>
          <a:ln/>
        </p:spPr>
        <p:txBody>
          <a:bodyPr wrap="square" lIns="0" tIns="0" rIns="0" bIns="0" rtlCol="0" anchor="t"/>
          <a:lstStyle/>
          <a:p>
            <a:pPr indent="0" marL="0">
              <a:lnSpc>
                <a:spcPts val="1600"/>
              </a:lnSpc>
              <a:buNone/>
            </a:pPr>
            <a:r>
              <a:rPr lang="en-US" sz="1250" b="1" dirty="0">
                <a:solidFill>
                  <a:srgbClr val="10261C"/>
                </a:solidFill>
                <a:latin typeface="Calibri" pitchFamily="34" charset="0"/>
                <a:ea typeface="Calibri" pitchFamily="34" charset="-122"/>
                <a:cs typeface="Calibri" pitchFamily="34" charset="-120"/>
              </a:rPr>
              <a:t>Actualización diaria automática — </a:t>
            </a:r>
            <a:pPr indent="0" marL="0">
              <a:lnSpc>
                <a:spcPts val="1600"/>
              </a:lnSpc>
              <a:buNone/>
            </a:pPr>
            <a:r>
              <a:rPr lang="en-US" sz="1250" dirty="0">
                <a:solidFill>
                  <a:srgbClr val="4C6053"/>
                </a:solidFill>
                <a:latin typeface="Calibri" pitchFamily="34" charset="0"/>
                <a:ea typeface="Calibri" pitchFamily="34" charset="-122"/>
                <a:cs typeface="Calibri" pitchFamily="34" charset="-120"/>
              </a:rPr>
              <a:t>con datos reales del CAN, sin intervención de nadie.</a:t>
            </a:r>
            <a:endParaRPr lang="en-US" sz="1250" dirty="0"/>
          </a:p>
        </p:txBody>
      </p:sp>
      <p:pic>
        <p:nvPicPr>
          <p:cNvPr id="13" name="Image 4" descr="ic-check-g.png">    </p:cNvPr>
          <p:cNvPicPr>
            <a:picLocks noChangeAspect="1"/>
          </p:cNvPicPr>
          <p:nvPr/>
        </p:nvPicPr>
        <p:blipFill>
          <a:blip r:embed="rId5"/>
          <a:stretch>
            <a:fillRect/>
          </a:stretch>
        </p:blipFill>
        <p:spPr>
          <a:xfrm>
            <a:off x="795528" y="4901184"/>
            <a:ext cx="274320" cy="274320"/>
          </a:xfrm>
          <a:prstGeom prst="rect">
            <a:avLst/>
          </a:prstGeom>
        </p:spPr>
      </p:pic>
      <p:sp>
        <p:nvSpPr>
          <p:cNvPr id="14" name="Text 7"/>
          <p:cNvSpPr/>
          <p:nvPr/>
        </p:nvSpPr>
        <p:spPr>
          <a:xfrm>
            <a:off x="1216152" y="4873752"/>
            <a:ext cx="4462272" cy="822960"/>
          </a:xfrm>
          <a:prstGeom prst="rect">
            <a:avLst/>
          </a:prstGeom>
          <a:noFill/>
          <a:ln/>
        </p:spPr>
        <p:txBody>
          <a:bodyPr wrap="square" lIns="0" tIns="0" rIns="0" bIns="0" rtlCol="0" anchor="t"/>
          <a:lstStyle/>
          <a:p>
            <a:pPr indent="0" marL="0">
              <a:lnSpc>
                <a:spcPts val="1600"/>
              </a:lnSpc>
              <a:buNone/>
            </a:pPr>
            <a:r>
              <a:rPr lang="en-US" sz="1250" b="1" dirty="0">
                <a:solidFill>
                  <a:srgbClr val="10261C"/>
                </a:solidFill>
                <a:latin typeface="Calibri" pitchFamily="34" charset="0"/>
                <a:ea typeface="Calibri" pitchFamily="34" charset="-122"/>
                <a:cs typeface="Calibri" pitchFamily="34" charset="-120"/>
              </a:rPr>
              <a:t>PDF descargable y filtros globales — </a:t>
            </a:r>
            <a:pPr indent="0" marL="0">
              <a:lnSpc>
                <a:spcPts val="1600"/>
              </a:lnSpc>
              <a:buNone/>
            </a:pPr>
            <a:r>
              <a:rPr lang="en-US" sz="1250" dirty="0">
                <a:solidFill>
                  <a:srgbClr val="4C6053"/>
                </a:solidFill>
                <a:latin typeface="Calibri" pitchFamily="34" charset="0"/>
                <a:ea typeface="Calibri" pitchFamily="34" charset="-122"/>
                <a:cs typeface="Calibri" pitchFamily="34" charset="-120"/>
              </a:rPr>
              <a:t>mes, semana, día y zona, desde cualquier sección.</a:t>
            </a:r>
            <a:endParaRPr lang="en-US" sz="1250" dirty="0"/>
          </a:p>
        </p:txBody>
      </p:sp>
      <p:sp>
        <p:nvSpPr>
          <p:cNvPr id="15" name="Shape 8"/>
          <p:cNvSpPr/>
          <p:nvPr/>
        </p:nvSpPr>
        <p:spPr>
          <a:xfrm>
            <a:off x="6263640" y="1691640"/>
            <a:ext cx="5440680" cy="4160520"/>
          </a:xfrm>
          <a:prstGeom prst="roundRect">
            <a:avLst>
              <a:gd name="adj" fmla="val 1978"/>
            </a:avLst>
          </a:prstGeom>
          <a:solidFill>
            <a:srgbClr val="FFFFFF"/>
          </a:solidFill>
          <a:ln w="12700">
            <a:solidFill>
              <a:srgbClr val="D98324"/>
            </a:solidFill>
            <a:prstDash val="solid"/>
          </a:ln>
          <a:effectLst>
            <a:outerShdw sx="100000" sy="100000" kx="0" ky="0" algn="bl" rotWithShape="0" blurRad="127000" dist="38100" dir="5400000">
              <a:srgbClr val="104626">
                <a:alpha val="18000"/>
              </a:srgbClr>
            </a:outerShdw>
          </a:effectLst>
        </p:spPr>
      </p:sp>
      <p:sp>
        <p:nvSpPr>
          <p:cNvPr id="16" name="Text 9"/>
          <p:cNvSpPr/>
          <p:nvPr/>
        </p:nvSpPr>
        <p:spPr>
          <a:xfrm>
            <a:off x="6556248" y="1920240"/>
            <a:ext cx="4855464" cy="274320"/>
          </a:xfrm>
          <a:prstGeom prst="rect">
            <a:avLst/>
          </a:prstGeom>
          <a:noFill/>
          <a:ln/>
        </p:spPr>
        <p:txBody>
          <a:bodyPr wrap="square" lIns="0" tIns="0" rIns="0" bIns="0" rtlCol="0" anchor="ctr"/>
          <a:lstStyle/>
          <a:p>
            <a:pPr indent="0" marL="0">
              <a:buNone/>
            </a:pPr>
            <a:r>
              <a:rPr lang="en-US" sz="1200" b="1" spc="200" kern="0" dirty="0">
                <a:solidFill>
                  <a:srgbClr val="D98324"/>
                </a:solidFill>
                <a:latin typeface="Calibri" pitchFamily="34" charset="0"/>
                <a:ea typeface="Calibri" pitchFamily="34" charset="-122"/>
                <a:cs typeface="Calibri" pitchFamily="34" charset="-120"/>
              </a:rPr>
              <a:t>LÍMITES CONOCIDOS · Y SU PLAN</a:t>
            </a:r>
            <a:endParaRPr lang="en-US" sz="1200" dirty="0"/>
          </a:p>
        </p:txBody>
      </p:sp>
      <p:pic>
        <p:nvPicPr>
          <p:cNvPr id="17" name="Image 5" descr="ic-wrench-g.png">    </p:cNvPr>
          <p:cNvPicPr>
            <a:picLocks noChangeAspect="1"/>
          </p:cNvPicPr>
          <p:nvPr/>
        </p:nvPicPr>
        <p:blipFill>
          <a:blip r:embed="rId6"/>
          <a:stretch>
            <a:fillRect/>
          </a:stretch>
        </p:blipFill>
        <p:spPr>
          <a:xfrm>
            <a:off x="6556248" y="2377440"/>
            <a:ext cx="256032" cy="256032"/>
          </a:xfrm>
          <a:prstGeom prst="rect">
            <a:avLst/>
          </a:prstGeom>
        </p:spPr>
      </p:pic>
      <p:sp>
        <p:nvSpPr>
          <p:cNvPr id="18" name="Text 10"/>
          <p:cNvSpPr/>
          <p:nvPr/>
        </p:nvSpPr>
        <p:spPr>
          <a:xfrm>
            <a:off x="6958584" y="2350008"/>
            <a:ext cx="4434840" cy="1097280"/>
          </a:xfrm>
          <a:prstGeom prst="rect">
            <a:avLst/>
          </a:prstGeom>
          <a:noFill/>
          <a:ln/>
        </p:spPr>
        <p:txBody>
          <a:bodyPr wrap="square" lIns="0" tIns="0" rIns="0" bIns="0" rtlCol="0" anchor="t"/>
          <a:lstStyle/>
          <a:p>
            <a:pPr indent="0" marL="0">
              <a:lnSpc>
                <a:spcPts val="1600"/>
              </a:lnSpc>
              <a:buNone/>
            </a:pPr>
            <a:r>
              <a:rPr lang="en-US" sz="1250" b="1" dirty="0">
                <a:solidFill>
                  <a:srgbClr val="10261C"/>
                </a:solidFill>
                <a:latin typeface="Calibri" pitchFamily="34" charset="0"/>
                <a:ea typeface="Calibri" pitchFamily="34" charset="-122"/>
                <a:cs typeface="Calibri" pitchFamily="34" charset="-120"/>
              </a:rPr>
              <a:t>Las ligas son públicas por URL → </a:t>
            </a:r>
            <a:pPr indent="0" marL="0">
              <a:lnSpc>
                <a:spcPts val="1600"/>
              </a:lnSpc>
              <a:buNone/>
            </a:pPr>
            <a:r>
              <a:rPr lang="en-US" sz="1250" dirty="0">
                <a:solidFill>
                  <a:srgbClr val="4C6053"/>
                </a:solidFill>
                <a:latin typeface="Calibri" pitchFamily="34" charset="0"/>
                <a:ea typeface="Calibri" pitchFamily="34" charset="-122"/>
                <a:cs typeface="Calibri" pitchFamily="34" charset="-120"/>
              </a:rPr>
              <a:t>si un cliente lo pide, Netlify permite protegerlas con contraseña o token — sin cambiar la arquitectura.</a:t>
            </a:r>
            <a:endParaRPr lang="en-US" sz="1250" dirty="0"/>
          </a:p>
        </p:txBody>
      </p:sp>
      <p:pic>
        <p:nvPicPr>
          <p:cNvPr id="19" name="Image 6" descr="ic-wrench-g.png">    </p:cNvPr>
          <p:cNvPicPr>
            <a:picLocks noChangeAspect="1"/>
          </p:cNvPicPr>
          <p:nvPr/>
        </p:nvPicPr>
        <p:blipFill>
          <a:blip r:embed="rId7"/>
          <a:stretch>
            <a:fillRect/>
          </a:stretch>
        </p:blipFill>
        <p:spPr>
          <a:xfrm>
            <a:off x="6556248" y="3493008"/>
            <a:ext cx="256032" cy="256032"/>
          </a:xfrm>
          <a:prstGeom prst="rect">
            <a:avLst/>
          </a:prstGeom>
        </p:spPr>
      </p:pic>
      <p:sp>
        <p:nvSpPr>
          <p:cNvPr id="20" name="Text 11"/>
          <p:cNvSpPr/>
          <p:nvPr/>
        </p:nvSpPr>
        <p:spPr>
          <a:xfrm>
            <a:off x="6958584" y="3465576"/>
            <a:ext cx="4434840" cy="1097280"/>
          </a:xfrm>
          <a:prstGeom prst="rect">
            <a:avLst/>
          </a:prstGeom>
          <a:noFill/>
          <a:ln/>
        </p:spPr>
        <p:txBody>
          <a:bodyPr wrap="square" lIns="0" tIns="0" rIns="0" bIns="0" rtlCol="0" anchor="t"/>
          <a:lstStyle/>
          <a:p>
            <a:pPr indent="0" marL="0">
              <a:lnSpc>
                <a:spcPts val="1600"/>
              </a:lnSpc>
              <a:buNone/>
            </a:pPr>
            <a:r>
              <a:rPr lang="en-US" sz="1250" b="1" dirty="0">
                <a:solidFill>
                  <a:srgbClr val="10261C"/>
                </a:solidFill>
                <a:latin typeface="Calibri" pitchFamily="34" charset="0"/>
                <a:ea typeface="Calibri" pitchFamily="34" charset="-122"/>
                <a:cs typeface="Calibri" pitchFamily="34" charset="-120"/>
              </a:rPr>
              <a:t>La API limita cada consulta a 30 días → </a:t>
            </a:r>
            <a:pPr indent="0" marL="0">
              <a:lnSpc>
                <a:spcPts val="1600"/>
              </a:lnSpc>
              <a:buNone/>
            </a:pPr>
            <a:r>
              <a:rPr lang="en-US" sz="1250" dirty="0">
                <a:solidFill>
                  <a:srgbClr val="4C6053"/>
                </a:solidFill>
                <a:latin typeface="Calibri" pitchFamily="34" charset="0"/>
                <a:ea typeface="Calibri" pitchFamily="34" charset="-122"/>
                <a:cs typeface="Calibri" pitchFamily="34" charset="-120"/>
              </a:rPr>
              <a:t>por eso el histórico mensual propio ya conserva la serie larga, mes a mes, por unidad.</a:t>
            </a:r>
            <a:endParaRPr lang="en-US" sz="1250" dirty="0"/>
          </a:p>
        </p:txBody>
      </p:sp>
      <p:pic>
        <p:nvPicPr>
          <p:cNvPr id="21" name="Image 7" descr="ic-wrench-g.png">    </p:cNvPr>
          <p:cNvPicPr>
            <a:picLocks noChangeAspect="1"/>
          </p:cNvPicPr>
          <p:nvPr/>
        </p:nvPicPr>
        <p:blipFill>
          <a:blip r:embed="rId8"/>
          <a:stretch>
            <a:fillRect/>
          </a:stretch>
        </p:blipFill>
        <p:spPr>
          <a:xfrm>
            <a:off x="6556248" y="4608576"/>
            <a:ext cx="256032" cy="256032"/>
          </a:xfrm>
          <a:prstGeom prst="rect">
            <a:avLst/>
          </a:prstGeom>
        </p:spPr>
      </p:pic>
      <p:sp>
        <p:nvSpPr>
          <p:cNvPr id="22" name="Text 12"/>
          <p:cNvSpPr/>
          <p:nvPr/>
        </p:nvSpPr>
        <p:spPr>
          <a:xfrm>
            <a:off x="6958584" y="4581144"/>
            <a:ext cx="4434840" cy="1097280"/>
          </a:xfrm>
          <a:prstGeom prst="rect">
            <a:avLst/>
          </a:prstGeom>
          <a:noFill/>
          <a:ln/>
        </p:spPr>
        <p:txBody>
          <a:bodyPr wrap="square" lIns="0" tIns="0" rIns="0" bIns="0" rtlCol="0" anchor="t"/>
          <a:lstStyle/>
          <a:p>
            <a:pPr indent="0" marL="0">
              <a:lnSpc>
                <a:spcPts val="1600"/>
              </a:lnSpc>
              <a:buNone/>
            </a:pPr>
            <a:r>
              <a:rPr lang="en-US" sz="1250" b="1" dirty="0">
                <a:solidFill>
                  <a:srgbClr val="10261C"/>
                </a:solidFill>
                <a:latin typeface="Calibri" pitchFamily="34" charset="0"/>
                <a:ea typeface="Calibri" pitchFamily="34" charset="-122"/>
                <a:cs typeface="Calibri" pitchFamily="34" charset="-120"/>
              </a:rPr>
              <a:t>Más clientes = más minutos de build → </a:t>
            </a:r>
            <a:pPr indent="0" marL="0">
              <a:lnSpc>
                <a:spcPts val="1600"/>
              </a:lnSpc>
              <a:buNone/>
            </a:pPr>
            <a:r>
              <a:rPr lang="en-US" sz="1250" dirty="0">
                <a:solidFill>
                  <a:srgbClr val="4C6053"/>
                </a:solidFill>
                <a:latin typeface="Calibri" pitchFamily="34" charset="0"/>
                <a:ea typeface="Calibri" pitchFamily="34" charset="-122"/>
                <a:cs typeface="Calibri" pitchFamily="34" charset="-120"/>
              </a:rPr>
              <a:t>el pipeline escala linealmente; no hay cambio de arquitectura a la vista hasta decenas de clientes.</a:t>
            </a:r>
            <a:endParaRPr lang="en-US" sz="1250" dirty="0"/>
          </a:p>
        </p:txBody>
      </p:sp>
      <p:sp>
        <p:nvSpPr>
          <p:cNvPr id="23" name="Text 13"/>
          <p:cNvSpPr/>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5A08F"/>
                </a:solidFill>
                <a:latin typeface="Calibri" pitchFamily="34" charset="0"/>
                <a:ea typeface="Calibri" pitchFamily="34" charset="-122"/>
                <a:cs typeface="Calibri" pitchFamily="34" charset="-120"/>
              </a:rPr>
              <a:t>Advance · Justificación técnica de la plataforma de informes</a:t>
            </a:r>
            <a:endParaRPr lang="en-US" sz="900" dirty="0"/>
          </a:p>
        </p:txBody>
      </p:sp>
      <p:sp>
        <p:nvSpPr>
          <p:cNvPr id="24" name="Text 14"/>
          <p:cNvSpPr/>
          <p:nvPr/>
        </p:nvSpPr>
        <p:spPr>
          <a:xfrm>
            <a:off x="11365992" y="6510528"/>
            <a:ext cx="365760" cy="274320"/>
          </a:xfrm>
          <a:prstGeom prst="rect">
            <a:avLst/>
          </a:prstGeom>
          <a:noFill/>
          <a:ln/>
        </p:spPr>
        <p:txBody>
          <a:bodyPr wrap="square" lIns="0" tIns="0" rIns="0" bIns="0" rtlCol="0" anchor="ctr"/>
          <a:lstStyle/>
          <a:p>
            <a:pPr algn="r" indent="0" marL="0">
              <a:buNone/>
            </a:pPr>
            <a:r>
              <a:rPr lang="en-US" sz="900" dirty="0">
                <a:solidFill>
                  <a:srgbClr val="85A08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640080"/>
            <a:ext cx="5486400" cy="320040"/>
          </a:xfrm>
          <a:prstGeom prst="rect">
            <a:avLst/>
          </a:prstGeom>
          <a:noFill/>
          <a:ln/>
        </p:spPr>
        <p:txBody>
          <a:bodyPr wrap="square" lIns="0" tIns="0" rIns="0" bIns="0" rtlCol="0" anchor="ctr"/>
          <a:lstStyle/>
          <a:p>
            <a:pPr indent="0" marL="0">
              <a:buNone/>
            </a:pPr>
            <a:r>
              <a:rPr lang="en-US" sz="1300" b="1" spc="300" kern="0" dirty="0">
                <a:solidFill>
                  <a:srgbClr val="6EE7B7"/>
                </a:solidFill>
                <a:latin typeface="Calibri" pitchFamily="34" charset="0"/>
                <a:ea typeface="Calibri" pitchFamily="34" charset="-122"/>
                <a:cs typeface="Calibri" pitchFamily="34" charset="-120"/>
              </a:rPr>
              <a:t>EN RESUMEN</a:t>
            </a:r>
            <a:endParaRPr lang="en-US" sz="1300" dirty="0"/>
          </a:p>
        </p:txBody>
      </p:sp>
      <p:sp>
        <p:nvSpPr>
          <p:cNvPr id="3" name="Text 1"/>
          <p:cNvSpPr/>
          <p:nvPr/>
        </p:nvSpPr>
        <p:spPr>
          <a:xfrm>
            <a:off x="685800" y="960120"/>
            <a:ext cx="10789920" cy="155448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libri" pitchFamily="34" charset="0"/>
                <a:ea typeface="Calibri" pitchFamily="34" charset="-122"/>
                <a:cs typeface="Calibri" pitchFamily="34" charset="-120"/>
              </a:rPr>
              <a:t>El camino elegido optimiza</a:t>
            </a:r>
            <a:endParaRPr lang="en-US" sz="4000" dirty="0"/>
          </a:p>
          <a:p>
            <a:pPr indent="0" marL="0">
              <a:lnSpc>
                <a:spcPts val="4600"/>
              </a:lnSpc>
              <a:buNone/>
            </a:pPr>
            <a:r>
              <a:rPr lang="en-US" sz="4000" b="1" dirty="0">
                <a:solidFill>
                  <a:srgbClr val="FFFFFF"/>
                </a:solidFill>
                <a:latin typeface="Calibri" pitchFamily="34" charset="0"/>
                <a:ea typeface="Calibri" pitchFamily="34" charset="-122"/>
                <a:cs typeface="Calibri" pitchFamily="34" charset="-120"/>
              </a:rPr>
              <a:t>lo que importa</a:t>
            </a:r>
            <a:endParaRPr lang="en-US" sz="4000" dirty="0"/>
          </a:p>
        </p:txBody>
      </p:sp>
      <p:sp>
        <p:nvSpPr>
          <p:cNvPr id="4" name="Shape 2"/>
          <p:cNvSpPr/>
          <p:nvPr/>
        </p:nvSpPr>
        <p:spPr>
          <a:xfrm>
            <a:off x="521208" y="2834640"/>
            <a:ext cx="3520440" cy="2377440"/>
          </a:xfrm>
          <a:prstGeom prst="roundRect">
            <a:avLst>
              <a:gd name="adj" fmla="val 3846"/>
            </a:avLst>
          </a:prstGeom>
          <a:solidFill>
            <a:srgbClr val="0E3A25">
              <a:alpha val="82000"/>
            </a:srgbClr>
          </a:solidFill>
          <a:ln w="12700">
            <a:solidFill>
              <a:srgbClr val="2C6E4B"/>
            </a:solidFill>
            <a:prstDash val="solid"/>
          </a:ln>
        </p:spPr>
      </p:sp>
      <p:sp>
        <p:nvSpPr>
          <p:cNvPr id="5" name="Shape 3"/>
          <p:cNvSpPr/>
          <p:nvPr/>
        </p:nvSpPr>
        <p:spPr>
          <a:xfrm>
            <a:off x="795528" y="3108960"/>
            <a:ext cx="603504" cy="603504"/>
          </a:xfrm>
          <a:prstGeom prst="ellipse">
            <a:avLst/>
          </a:prstGeom>
          <a:solidFill>
            <a:srgbClr val="15803D"/>
          </a:solidFill>
          <a:ln/>
        </p:spPr>
      </p:sp>
      <p:pic>
        <p:nvPicPr>
          <p:cNvPr id="6" name="Image 0" descr="ic-rocket-w.png">    </p:cNvPr>
          <p:cNvPicPr>
            <a:picLocks noChangeAspect="1"/>
          </p:cNvPicPr>
          <p:nvPr/>
        </p:nvPicPr>
        <p:blipFill>
          <a:blip r:embed="rId2"/>
          <a:stretch>
            <a:fillRect/>
          </a:stretch>
        </p:blipFill>
        <p:spPr>
          <a:xfrm>
            <a:off x="923544" y="3236976"/>
            <a:ext cx="347472" cy="347472"/>
          </a:xfrm>
          <a:prstGeom prst="rect">
            <a:avLst/>
          </a:prstGeom>
        </p:spPr>
      </p:pic>
      <p:sp>
        <p:nvSpPr>
          <p:cNvPr id="7" name="Text 4"/>
          <p:cNvSpPr/>
          <p:nvPr/>
        </p:nvSpPr>
        <p:spPr>
          <a:xfrm>
            <a:off x="795528" y="3840480"/>
            <a:ext cx="2971800" cy="365760"/>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Velocidad de entrega</a:t>
            </a:r>
            <a:endParaRPr lang="en-US" sz="1650" dirty="0"/>
          </a:p>
        </p:txBody>
      </p:sp>
      <p:sp>
        <p:nvSpPr>
          <p:cNvPr id="8" name="Text 5"/>
          <p:cNvSpPr/>
          <p:nvPr/>
        </p:nvSpPr>
        <p:spPr>
          <a:xfrm>
            <a:off x="795528" y="4251960"/>
            <a:ext cx="2971800" cy="868680"/>
          </a:xfrm>
          <a:prstGeom prst="rect">
            <a:avLst/>
          </a:prstGeom>
          <a:noFill/>
          <a:ln/>
        </p:spPr>
        <p:txBody>
          <a:bodyPr wrap="square" lIns="0" tIns="0" rIns="0" bIns="0" rtlCol="0" anchor="t"/>
          <a:lstStyle/>
          <a:p>
            <a:pPr indent="0" marL="0">
              <a:lnSpc>
                <a:spcPts val="1600"/>
              </a:lnSpc>
              <a:buNone/>
            </a:pPr>
            <a:r>
              <a:rPr lang="en-US" sz="1200" dirty="0">
                <a:solidFill>
                  <a:srgbClr val="BFE3CD"/>
                </a:solidFill>
                <a:latin typeface="Calibri" pitchFamily="34" charset="0"/>
                <a:ea typeface="Calibri" pitchFamily="34" charset="-122"/>
                <a:cs typeface="Calibri" pitchFamily="34" charset="-120"/>
              </a:rPr>
              <a:t>De idea a liga en producción en días, no en meses de proyecto.</a:t>
            </a:r>
            <a:endParaRPr lang="en-US" sz="1200" dirty="0"/>
          </a:p>
        </p:txBody>
      </p:sp>
      <p:sp>
        <p:nvSpPr>
          <p:cNvPr id="9" name="Shape 6"/>
          <p:cNvSpPr/>
          <p:nvPr/>
        </p:nvSpPr>
        <p:spPr>
          <a:xfrm>
            <a:off x="4334256" y="2834640"/>
            <a:ext cx="3520440" cy="2377440"/>
          </a:xfrm>
          <a:prstGeom prst="roundRect">
            <a:avLst>
              <a:gd name="adj" fmla="val 3846"/>
            </a:avLst>
          </a:prstGeom>
          <a:solidFill>
            <a:srgbClr val="0E3A25">
              <a:alpha val="82000"/>
            </a:srgbClr>
          </a:solidFill>
          <a:ln w="12700">
            <a:solidFill>
              <a:srgbClr val="2C6E4B"/>
            </a:solidFill>
            <a:prstDash val="solid"/>
          </a:ln>
        </p:spPr>
      </p:sp>
      <p:sp>
        <p:nvSpPr>
          <p:cNvPr id="10" name="Shape 7"/>
          <p:cNvSpPr/>
          <p:nvPr/>
        </p:nvSpPr>
        <p:spPr>
          <a:xfrm>
            <a:off x="4608576" y="3108960"/>
            <a:ext cx="603504" cy="603504"/>
          </a:xfrm>
          <a:prstGeom prst="ellipse">
            <a:avLst/>
          </a:prstGeom>
          <a:solidFill>
            <a:srgbClr val="15803D"/>
          </a:solidFill>
          <a:ln/>
        </p:spPr>
      </p:sp>
      <p:pic>
        <p:nvPicPr>
          <p:cNvPr id="11" name="Image 1" descr="ic-coins-w.png">    </p:cNvPr>
          <p:cNvPicPr>
            <a:picLocks noChangeAspect="1"/>
          </p:cNvPicPr>
          <p:nvPr/>
        </p:nvPicPr>
        <p:blipFill>
          <a:blip r:embed="rId3"/>
          <a:stretch>
            <a:fillRect/>
          </a:stretch>
        </p:blipFill>
        <p:spPr>
          <a:xfrm>
            <a:off x="4736592" y="3236976"/>
            <a:ext cx="347472" cy="347472"/>
          </a:xfrm>
          <a:prstGeom prst="rect">
            <a:avLst/>
          </a:prstGeom>
        </p:spPr>
      </p:pic>
      <p:sp>
        <p:nvSpPr>
          <p:cNvPr id="12" name="Text 8"/>
          <p:cNvSpPr/>
          <p:nvPr/>
        </p:nvSpPr>
        <p:spPr>
          <a:xfrm>
            <a:off x="4608576" y="3840480"/>
            <a:ext cx="2971800" cy="365760"/>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Costo cero de operación</a:t>
            </a:r>
            <a:endParaRPr lang="en-US" sz="1650" dirty="0"/>
          </a:p>
        </p:txBody>
      </p:sp>
      <p:sp>
        <p:nvSpPr>
          <p:cNvPr id="13" name="Text 9"/>
          <p:cNvSpPr/>
          <p:nvPr/>
        </p:nvSpPr>
        <p:spPr>
          <a:xfrm>
            <a:off x="4608576" y="4251960"/>
            <a:ext cx="2971800" cy="868680"/>
          </a:xfrm>
          <a:prstGeom prst="rect">
            <a:avLst/>
          </a:prstGeom>
          <a:noFill/>
          <a:ln/>
        </p:spPr>
        <p:txBody>
          <a:bodyPr wrap="square" lIns="0" tIns="0" rIns="0" bIns="0" rtlCol="0" anchor="t"/>
          <a:lstStyle/>
          <a:p>
            <a:pPr indent="0" marL="0">
              <a:lnSpc>
                <a:spcPts val="1600"/>
              </a:lnSpc>
              <a:buNone/>
            </a:pPr>
            <a:r>
              <a:rPr lang="en-US" sz="1200" dirty="0">
                <a:solidFill>
                  <a:srgbClr val="BFE3CD"/>
                </a:solidFill>
                <a:latin typeface="Calibri" pitchFamily="34" charset="0"/>
                <a:ea typeface="Calibri" pitchFamily="34" charset="-122"/>
                <a:cs typeface="Calibri" pitchFamily="34" charset="-120"/>
              </a:rPr>
              <a:t>Sin servidores ni licencias: el margen del servicio queda en el análisis.</a:t>
            </a:r>
            <a:endParaRPr lang="en-US" sz="1200" dirty="0"/>
          </a:p>
        </p:txBody>
      </p:sp>
      <p:sp>
        <p:nvSpPr>
          <p:cNvPr id="14" name="Shape 10"/>
          <p:cNvSpPr/>
          <p:nvPr/>
        </p:nvSpPr>
        <p:spPr>
          <a:xfrm>
            <a:off x="8147304" y="2834640"/>
            <a:ext cx="3520440" cy="2377440"/>
          </a:xfrm>
          <a:prstGeom prst="roundRect">
            <a:avLst>
              <a:gd name="adj" fmla="val 3846"/>
            </a:avLst>
          </a:prstGeom>
          <a:solidFill>
            <a:srgbClr val="0E3A25">
              <a:alpha val="82000"/>
            </a:srgbClr>
          </a:solidFill>
          <a:ln w="12700">
            <a:solidFill>
              <a:srgbClr val="2C6E4B"/>
            </a:solidFill>
            <a:prstDash val="solid"/>
          </a:ln>
        </p:spPr>
      </p:sp>
      <p:sp>
        <p:nvSpPr>
          <p:cNvPr id="15" name="Shape 11"/>
          <p:cNvSpPr/>
          <p:nvPr/>
        </p:nvSpPr>
        <p:spPr>
          <a:xfrm>
            <a:off x="8421624" y="3108960"/>
            <a:ext cx="603504" cy="603504"/>
          </a:xfrm>
          <a:prstGeom prst="ellipse">
            <a:avLst/>
          </a:prstGeom>
          <a:solidFill>
            <a:srgbClr val="15803D"/>
          </a:solidFill>
          <a:ln/>
        </p:spPr>
      </p:sp>
      <p:pic>
        <p:nvPicPr>
          <p:cNvPr id="16" name="Image 2" descr="ic-chart-w.png">    </p:cNvPr>
          <p:cNvPicPr>
            <a:picLocks noChangeAspect="1"/>
          </p:cNvPicPr>
          <p:nvPr/>
        </p:nvPicPr>
        <p:blipFill>
          <a:blip r:embed="rId4"/>
          <a:stretch>
            <a:fillRect/>
          </a:stretch>
        </p:blipFill>
        <p:spPr>
          <a:xfrm>
            <a:off x="8549640" y="3236976"/>
            <a:ext cx="347472" cy="347472"/>
          </a:xfrm>
          <a:prstGeom prst="rect">
            <a:avLst/>
          </a:prstGeom>
        </p:spPr>
      </p:pic>
      <p:sp>
        <p:nvSpPr>
          <p:cNvPr id="17" name="Text 12"/>
          <p:cNvSpPr/>
          <p:nvPr/>
        </p:nvSpPr>
        <p:spPr>
          <a:xfrm>
            <a:off x="8421624" y="3840480"/>
            <a:ext cx="2971800" cy="365760"/>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Foco en el análisis</a:t>
            </a:r>
            <a:endParaRPr lang="en-US" sz="1650" dirty="0"/>
          </a:p>
        </p:txBody>
      </p:sp>
      <p:sp>
        <p:nvSpPr>
          <p:cNvPr id="18" name="Text 13"/>
          <p:cNvSpPr/>
          <p:nvPr/>
        </p:nvSpPr>
        <p:spPr>
          <a:xfrm>
            <a:off x="8421624" y="4251960"/>
            <a:ext cx="2971800" cy="868680"/>
          </a:xfrm>
          <a:prstGeom prst="rect">
            <a:avLst/>
          </a:prstGeom>
          <a:noFill/>
          <a:ln/>
        </p:spPr>
        <p:txBody>
          <a:bodyPr wrap="square" lIns="0" tIns="0" rIns="0" bIns="0" rtlCol="0" anchor="t"/>
          <a:lstStyle/>
          <a:p>
            <a:pPr indent="0" marL="0">
              <a:lnSpc>
                <a:spcPts val="1600"/>
              </a:lnSpc>
              <a:buNone/>
            </a:pPr>
            <a:r>
              <a:rPr lang="en-US" sz="1200" dirty="0">
                <a:solidFill>
                  <a:srgbClr val="BFE3CD"/>
                </a:solidFill>
                <a:latin typeface="Calibri" pitchFamily="34" charset="0"/>
                <a:ea typeface="Calibri" pitchFamily="34" charset="-122"/>
                <a:cs typeface="Calibri" pitchFamily="34" charset="-120"/>
              </a:rPr>
              <a:t>Cada mejora al motor llega a todos los clientes al día siguiente, automáticamente.</a:t>
            </a:r>
            <a:endParaRPr lang="en-US" sz="1200" dirty="0"/>
          </a:p>
        </p:txBody>
      </p:sp>
      <p:sp>
        <p:nvSpPr>
          <p:cNvPr id="19" name="Text 14"/>
          <p:cNvSpPr/>
          <p:nvPr/>
        </p:nvSpPr>
        <p:spPr>
          <a:xfrm>
            <a:off x="1463040" y="5623560"/>
            <a:ext cx="9235440" cy="548640"/>
          </a:xfrm>
          <a:prstGeom prst="rect">
            <a:avLst/>
          </a:prstGeom>
          <a:noFill/>
          <a:ln/>
        </p:spPr>
        <p:txBody>
          <a:bodyPr wrap="square" lIns="0" tIns="0" rIns="0" bIns="0" rtlCol="0" anchor="ctr"/>
          <a:lstStyle/>
          <a:p>
            <a:pPr algn="ctr" indent="0" marL="0">
              <a:buNone/>
            </a:pPr>
            <a:r>
              <a:rPr lang="en-US" sz="1400" i="1" dirty="0">
                <a:solidFill>
                  <a:srgbClr val="CFE8D8"/>
                </a:solidFill>
                <a:latin typeface="Calibri" pitchFamily="34" charset="0"/>
                <a:ea typeface="Calibri" pitchFamily="34" charset="-122"/>
                <a:cs typeface="Calibri" pitchFamily="34" charset="-120"/>
              </a:rPr>
              <a:t>“La arquitectura correcta no es la que más piezas tiene, sino la que menos mantenimiento exige para entregar el mismo valor.”</a:t>
            </a:r>
            <a:endParaRPr lang="en-US" sz="1400" dirty="0"/>
          </a:p>
        </p:txBody>
      </p:sp>
      <p:pic>
        <p:nvPicPr>
          <p:cNvPr id="20" name="Image 3" descr="logo-white.png">    </p:cNvPr>
          <p:cNvPicPr>
            <a:picLocks noChangeAspect="1"/>
          </p:cNvPicPr>
          <p:nvPr/>
        </p:nvPicPr>
        <p:blipFill>
          <a:blip r:embed="rId5"/>
          <a:stretch>
            <a:fillRect/>
          </a:stretch>
        </p:blipFill>
        <p:spPr>
          <a:xfrm>
            <a:off x="9902952" y="685800"/>
            <a:ext cx="1554480" cy="5669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2026-08-06T01:00:35Z</dcterms:created>
  <dcterms:modified xsi:type="dcterms:W3CDTF">2026-08-06T01:00:35Z</dcterms:modified>
</cp:coreProperties>
</file>